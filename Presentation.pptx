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</p:sldIdLst>
  <p:sldSz cx="18288000" cy="10287000"/>
  <p:notesSz cx="6858000" cy="9144000"/>
  <p:embeddedFontLst>
    <p:embeddedFont>
      <p:font typeface="Proxima Nova Condensed" panose="020B0604020202020204" charset="0"/>
      <p:regular r:id="rId14"/>
    </p:embeddedFont>
    <p:embeddedFont>
      <p:font typeface="Proxima Nova Condensed Bold" panose="020B0604020202020204" charset="0"/>
      <p:regular r:id="rId15"/>
    </p:embeddedFont>
    <p:embeddedFont>
      <p:font typeface="Touvlo" panose="020B0604020202020204" charset="0"/>
      <p:regular r:id="rId16"/>
    </p:embeddedFont>
    <p:embeddedFont>
      <p:font typeface="Touvlo Bold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8362950" y="361950"/>
            <a:ext cx="1562100" cy="18288000"/>
            <a:chOff x="0" y="0"/>
            <a:chExt cx="411417" cy="481659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1417" cy="4816592"/>
            </a:xfrm>
            <a:custGeom>
              <a:avLst/>
              <a:gdLst/>
              <a:ahLst/>
              <a:cxnLst/>
              <a:rect l="l" t="t" r="r" b="b"/>
              <a:pathLst>
                <a:path w="411417" h="4816592">
                  <a:moveTo>
                    <a:pt x="0" y="0"/>
                  </a:moveTo>
                  <a:lnTo>
                    <a:pt x="411417" y="0"/>
                  </a:lnTo>
                  <a:lnTo>
                    <a:pt x="411417" y="4816592"/>
                  </a:lnTo>
                  <a:lnTo>
                    <a:pt x="0" y="4816592"/>
                  </a:lnTo>
                  <a:close/>
                </a:path>
              </a:pathLst>
            </a:custGeom>
            <a:solidFill>
              <a:srgbClr val="F0F3F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142875"/>
              <a:ext cx="411417" cy="46737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765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296400" y="0"/>
            <a:ext cx="8991600" cy="8724900"/>
            <a:chOff x="0" y="0"/>
            <a:chExt cx="1035548" cy="10048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35548" cy="1004833"/>
            </a:xfrm>
            <a:custGeom>
              <a:avLst/>
              <a:gdLst/>
              <a:ahLst/>
              <a:cxnLst/>
              <a:rect l="l" t="t" r="r" b="b"/>
              <a:pathLst>
                <a:path w="1035548" h="1004833">
                  <a:moveTo>
                    <a:pt x="0" y="0"/>
                  </a:moveTo>
                  <a:lnTo>
                    <a:pt x="1035548" y="0"/>
                  </a:lnTo>
                  <a:lnTo>
                    <a:pt x="1035548" y="1004833"/>
                  </a:lnTo>
                  <a:lnTo>
                    <a:pt x="0" y="1004833"/>
                  </a:lnTo>
                  <a:close/>
                </a:path>
              </a:pathLst>
            </a:custGeom>
            <a:blipFill>
              <a:blip r:embed="rId2"/>
              <a:stretch>
                <a:fillRect l="-276" r="-276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675300" y="684848"/>
            <a:ext cx="8324850" cy="2801370"/>
            <a:chOff x="0" y="0"/>
            <a:chExt cx="11099800" cy="3735160"/>
          </a:xfrm>
        </p:grpSpPr>
        <p:sp>
          <p:nvSpPr>
            <p:cNvPr id="8" name="TextBox 8"/>
            <p:cNvSpPr txBox="1"/>
            <p:nvPr/>
          </p:nvSpPr>
          <p:spPr>
            <a:xfrm>
              <a:off x="0" y="209550"/>
              <a:ext cx="11099800" cy="19113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10499"/>
                </a:lnSpc>
              </a:pPr>
              <a:r>
                <a:rPr lang="en-US" sz="10499" b="1">
                  <a:solidFill>
                    <a:srgbClr val="F0F3F9"/>
                  </a:solidFill>
                  <a:latin typeface="Proxima Nova Condensed Bold"/>
                  <a:ea typeface="Proxima Nova Condensed Bold"/>
                  <a:cs typeface="Proxima Nova Condensed Bold"/>
                  <a:sym typeface="Proxima Nova Condensed Bold"/>
                </a:rPr>
                <a:t>LUCID++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2381340"/>
              <a:ext cx="11088400" cy="13538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147"/>
                </a:lnSpc>
              </a:pPr>
              <a:r>
                <a:rPr lang="en-US" sz="2962">
                  <a:solidFill>
                    <a:srgbClr val="F0F3F9"/>
                  </a:solidFill>
                  <a:latin typeface="Touvlo"/>
                  <a:ea typeface="Touvlo"/>
                  <a:cs typeface="Touvlo"/>
                  <a:sym typeface="Touvlo"/>
                </a:rPr>
                <a:t>Enhanced Deep-Learning Solution for DDoS Attack Detection</a:t>
              </a: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79524" y="9230208"/>
            <a:ext cx="8584341" cy="389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62"/>
              </a:lnSpc>
            </a:pPr>
            <a:r>
              <a:rPr lang="en-US" sz="2962">
                <a:solidFill>
                  <a:srgbClr val="152A55"/>
                </a:solidFill>
                <a:latin typeface="Touvlo"/>
                <a:ea typeface="Touvlo"/>
                <a:cs typeface="Touvlo"/>
                <a:sym typeface="Touvlo"/>
              </a:rPr>
              <a:t>ICS-590 – Special Topics in Deep Learning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620750" y="9124400"/>
            <a:ext cx="4000500" cy="651679"/>
            <a:chOff x="0" y="0"/>
            <a:chExt cx="5334000" cy="868905"/>
          </a:xfrm>
        </p:grpSpPr>
        <p:sp>
          <p:nvSpPr>
            <p:cNvPr id="12" name="TextBox 12"/>
            <p:cNvSpPr txBox="1"/>
            <p:nvPr/>
          </p:nvSpPr>
          <p:spPr>
            <a:xfrm>
              <a:off x="0" y="440661"/>
              <a:ext cx="5334000" cy="4282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772"/>
                </a:lnSpc>
                <a:spcBef>
                  <a:spcPct val="0"/>
                </a:spcBef>
              </a:pPr>
              <a:r>
                <a:rPr lang="en-US" sz="1980">
                  <a:solidFill>
                    <a:srgbClr val="152A55"/>
                  </a:solidFill>
                  <a:latin typeface="Touvlo"/>
                  <a:ea typeface="Touvlo"/>
                  <a:cs typeface="Touvlo"/>
                  <a:sym typeface="Touvlo"/>
                </a:rPr>
                <a:t>Syed M Minhaj Naqvi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5334000" cy="5575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594"/>
                </a:lnSpc>
                <a:spcBef>
                  <a:spcPct val="0"/>
                </a:spcBef>
              </a:pPr>
              <a:r>
                <a:rPr lang="en-US" sz="2567" b="1">
                  <a:solidFill>
                    <a:srgbClr val="152A55"/>
                  </a:solidFill>
                  <a:latin typeface="Proxima Nova Condensed Bold"/>
                  <a:ea typeface="Proxima Nova Condensed Bold"/>
                  <a:cs typeface="Proxima Nova Condensed Bold"/>
                  <a:sym typeface="Proxima Nova Condensed Bold"/>
                </a:rPr>
                <a:t>PRESENTED BY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66750" y="9120050"/>
            <a:ext cx="495645" cy="576750"/>
            <a:chOff x="0" y="0"/>
            <a:chExt cx="6985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98500" cy="812800"/>
            </a:xfrm>
            <a:custGeom>
              <a:avLst/>
              <a:gdLst/>
              <a:ahLst/>
              <a:cxnLst/>
              <a:rect l="l" t="t" r="r" b="b"/>
              <a:pathLst>
                <a:path w="698500" h="812800">
                  <a:moveTo>
                    <a:pt x="349250" y="0"/>
                  </a:moveTo>
                  <a:lnTo>
                    <a:pt x="698500" y="203200"/>
                  </a:lnTo>
                  <a:lnTo>
                    <a:pt x="698500" y="609600"/>
                  </a:lnTo>
                  <a:lnTo>
                    <a:pt x="349250" y="812800"/>
                  </a:lnTo>
                  <a:lnTo>
                    <a:pt x="0" y="609600"/>
                  </a:lnTo>
                  <a:lnTo>
                    <a:pt x="0" y="203200"/>
                  </a:lnTo>
                  <a:lnTo>
                    <a:pt x="349250" y="0"/>
                  </a:lnTo>
                  <a:close/>
                </a:path>
              </a:pathLst>
            </a:custGeom>
            <a:solidFill>
              <a:srgbClr val="0A1128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101600"/>
              <a:ext cx="698500" cy="571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771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96400" y="666750"/>
            <a:ext cx="8324850" cy="7162800"/>
            <a:chOff x="0" y="0"/>
            <a:chExt cx="1287005" cy="11073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87005" cy="1107355"/>
            </a:xfrm>
            <a:custGeom>
              <a:avLst/>
              <a:gdLst/>
              <a:ahLst/>
              <a:cxnLst/>
              <a:rect l="l" t="t" r="r" b="b"/>
              <a:pathLst>
                <a:path w="1287005" h="1107355">
                  <a:moveTo>
                    <a:pt x="13950" y="0"/>
                  </a:moveTo>
                  <a:lnTo>
                    <a:pt x="1273056" y="0"/>
                  </a:lnTo>
                  <a:cubicBezTo>
                    <a:pt x="1276755" y="0"/>
                    <a:pt x="1280303" y="1470"/>
                    <a:pt x="1282919" y="4086"/>
                  </a:cubicBezTo>
                  <a:cubicBezTo>
                    <a:pt x="1285536" y="6702"/>
                    <a:pt x="1287005" y="10250"/>
                    <a:pt x="1287005" y="13950"/>
                  </a:cubicBezTo>
                  <a:lnTo>
                    <a:pt x="1287005" y="1093405"/>
                  </a:lnTo>
                  <a:cubicBezTo>
                    <a:pt x="1287005" y="1101109"/>
                    <a:pt x="1280760" y="1107355"/>
                    <a:pt x="1273056" y="1107355"/>
                  </a:cubicBezTo>
                  <a:lnTo>
                    <a:pt x="13950" y="1107355"/>
                  </a:lnTo>
                  <a:cubicBezTo>
                    <a:pt x="10250" y="1107355"/>
                    <a:pt x="6702" y="1105885"/>
                    <a:pt x="4086" y="1103269"/>
                  </a:cubicBezTo>
                  <a:cubicBezTo>
                    <a:pt x="1470" y="1100653"/>
                    <a:pt x="0" y="1097105"/>
                    <a:pt x="0" y="1093405"/>
                  </a:cubicBezTo>
                  <a:lnTo>
                    <a:pt x="0" y="13950"/>
                  </a:lnTo>
                  <a:cubicBezTo>
                    <a:pt x="0" y="6245"/>
                    <a:pt x="6245" y="0"/>
                    <a:pt x="13950" y="0"/>
                  </a:cubicBezTo>
                  <a:close/>
                </a:path>
              </a:pathLst>
            </a:custGeom>
            <a:blipFill>
              <a:blip r:embed="rId2"/>
              <a:stretch>
                <a:fillRect l="-243" r="-243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-5400000">
            <a:off x="-5014748" y="5014748"/>
            <a:ext cx="10287000" cy="257505"/>
            <a:chOff x="0" y="0"/>
            <a:chExt cx="2709333" cy="6782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709333" cy="67820"/>
            </a:xfrm>
            <a:custGeom>
              <a:avLst/>
              <a:gdLst/>
              <a:ahLst/>
              <a:cxnLst/>
              <a:rect l="l" t="t" r="r" b="b"/>
              <a:pathLst>
                <a:path w="2709333" h="67820">
                  <a:moveTo>
                    <a:pt x="0" y="0"/>
                  </a:moveTo>
                  <a:lnTo>
                    <a:pt x="2709333" y="0"/>
                  </a:lnTo>
                  <a:lnTo>
                    <a:pt x="2709333" y="67820"/>
                  </a:lnTo>
                  <a:lnTo>
                    <a:pt x="0" y="67820"/>
                  </a:lnTo>
                  <a:close/>
                </a:path>
              </a:pathLst>
            </a:custGeom>
            <a:solidFill>
              <a:srgbClr val="F0F3F9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2709333" cy="868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666750" y="838200"/>
            <a:ext cx="8477250" cy="4349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499"/>
              </a:lnSpc>
            </a:pPr>
            <a:r>
              <a:rPr lang="en-US" sz="8499" b="1">
                <a:solidFill>
                  <a:srgbClr val="F0F3F9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DDoS attacks are evolving and hard to detect in real-time.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820427" y="6237226"/>
            <a:ext cx="7913050" cy="2265680"/>
            <a:chOff x="0" y="0"/>
            <a:chExt cx="10550733" cy="3020907"/>
          </a:xfrm>
        </p:grpSpPr>
        <p:sp>
          <p:nvSpPr>
            <p:cNvPr id="9" name="TextBox 9"/>
            <p:cNvSpPr txBox="1"/>
            <p:nvPr/>
          </p:nvSpPr>
          <p:spPr>
            <a:xfrm>
              <a:off x="0" y="-57150"/>
              <a:ext cx="10550733" cy="27012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631508" lvl="1" indent="-315754" algn="l">
                <a:lnSpc>
                  <a:spcPts val="4094"/>
                </a:lnSpc>
                <a:buFont typeface="Arial"/>
                <a:buChar char="•"/>
              </a:pPr>
              <a:r>
                <a:rPr lang="en-US" sz="2925" b="1">
                  <a:solidFill>
                    <a:srgbClr val="ACB9CC"/>
                  </a:solidFill>
                  <a:latin typeface="Proxima Nova Condensed Bold"/>
                  <a:ea typeface="Proxima Nova Condensed Bold"/>
                  <a:cs typeface="Proxima Nova Condensed Bold"/>
                  <a:sym typeface="Proxima Nova Condensed Bold"/>
                </a:rPr>
                <a:t>HIGH</a:t>
              </a:r>
              <a:r>
                <a:rPr lang="en-US" sz="2925" b="1" u="none" strike="noStrike">
                  <a:solidFill>
                    <a:srgbClr val="ACB9CC"/>
                  </a:solidFill>
                  <a:latin typeface="Proxima Nova Condensed Bold"/>
                  <a:ea typeface="Proxima Nova Condensed Bold"/>
                  <a:cs typeface="Proxima Nova Condensed Bold"/>
                  <a:sym typeface="Proxima Nova Condensed Bold"/>
                </a:rPr>
                <a:t> TRAFFIC VOLUME</a:t>
              </a:r>
            </a:p>
            <a:p>
              <a:pPr marL="631508" lvl="1" indent="-315754" algn="l">
                <a:lnSpc>
                  <a:spcPts val="4094"/>
                </a:lnSpc>
                <a:buFont typeface="Arial"/>
                <a:buChar char="•"/>
              </a:pPr>
              <a:r>
                <a:rPr lang="en-US" sz="2925" b="1" u="none" strike="noStrike">
                  <a:solidFill>
                    <a:srgbClr val="ACB9CC"/>
                  </a:solidFill>
                  <a:latin typeface="Proxima Nova Condensed Bold"/>
                  <a:ea typeface="Proxima Nova Condensed Bold"/>
                  <a:cs typeface="Proxima Nova Condensed Bold"/>
                  <a:sym typeface="Proxima Nova Condensed Bold"/>
                </a:rPr>
                <a:t>COMPLEX ATTACK PATTERNS</a:t>
              </a:r>
            </a:p>
            <a:p>
              <a:pPr marL="631508" lvl="1" indent="-315754" algn="l">
                <a:lnSpc>
                  <a:spcPts val="4094"/>
                </a:lnSpc>
                <a:buFont typeface="Arial"/>
                <a:buChar char="•"/>
              </a:pPr>
              <a:r>
                <a:rPr lang="en-US" sz="2925" b="1" u="none" strike="noStrike">
                  <a:solidFill>
                    <a:srgbClr val="ACB9CC"/>
                  </a:solidFill>
                  <a:latin typeface="Proxima Nova Condensed Bold"/>
                  <a:ea typeface="Proxima Nova Condensed Bold"/>
                  <a:cs typeface="Proxima Nova Condensed Bold"/>
                  <a:sym typeface="Proxima Nova Condensed Bold"/>
                </a:rPr>
                <a:t>NEED FOR FAST AND LIGHTWEIGHT DETECTION</a:t>
              </a:r>
            </a:p>
            <a:p>
              <a:pPr marL="0" lvl="0" indent="0" algn="l">
                <a:lnSpc>
                  <a:spcPts val="4094"/>
                </a:lnSpc>
              </a:pPr>
              <a:endParaRPr lang="en-US" sz="2925" b="1" u="none" strike="noStrike">
                <a:solidFill>
                  <a:srgbClr val="ACB9CC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2763097"/>
              <a:ext cx="10550733" cy="257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1680"/>
                </a:lnSpc>
                <a:spcBef>
                  <a:spcPct val="0"/>
                </a:spcBef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43701" y="2197567"/>
            <a:ext cx="15000598" cy="5274949"/>
            <a:chOff x="0" y="0"/>
            <a:chExt cx="20000797" cy="7033266"/>
          </a:xfrm>
        </p:grpSpPr>
        <p:sp>
          <p:nvSpPr>
            <p:cNvPr id="3" name="TextBox 3"/>
            <p:cNvSpPr txBox="1"/>
            <p:nvPr/>
          </p:nvSpPr>
          <p:spPr>
            <a:xfrm>
              <a:off x="0" y="152400"/>
              <a:ext cx="20000797" cy="19295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100"/>
                </a:lnSpc>
              </a:pPr>
              <a:r>
                <a:rPr lang="en-US" sz="8100" b="1">
                  <a:solidFill>
                    <a:srgbClr val="F0F3F9"/>
                  </a:solidFill>
                  <a:latin typeface="Proxima Nova Condensed Bold"/>
                  <a:ea typeface="Proxima Nova Condensed Bold"/>
                  <a:cs typeface="Proxima Nova Condensed Bold"/>
                  <a:sym typeface="Proxima Nova Condensed Bold"/>
                </a:rPr>
                <a:t>Existing Approaches</a:t>
              </a:r>
            </a:p>
            <a:p>
              <a:pPr marL="0" lvl="0" indent="0" algn="l">
                <a:lnSpc>
                  <a:spcPts val="3100"/>
                </a:lnSpc>
              </a:pPr>
              <a:r>
                <a:rPr lang="en-US" sz="3100" b="1">
                  <a:solidFill>
                    <a:srgbClr val="F0F3F9"/>
                  </a:solidFill>
                  <a:latin typeface="Proxima Nova Condensed Bold"/>
                  <a:ea typeface="Proxima Nova Condensed Bold"/>
                  <a:cs typeface="Proxima Nova Condensed Bold"/>
                  <a:sym typeface="Proxima Nova Condensed Bold"/>
                </a:rPr>
                <a:t>Traditional → ML → Deep Learning Evolution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448142"/>
              <a:ext cx="20000797" cy="45851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19"/>
                </a:lnSpc>
              </a:pPr>
              <a:endParaRPr/>
            </a:p>
            <a:p>
              <a:pPr algn="l">
                <a:lnSpc>
                  <a:spcPts val="3919"/>
                </a:lnSpc>
              </a:pPr>
              <a:endParaRPr/>
            </a:p>
            <a:p>
              <a:pPr marL="604518" lvl="1" indent="-302259" algn="l">
                <a:lnSpc>
                  <a:spcPts val="3919"/>
                </a:lnSpc>
                <a:buFont typeface="Arial"/>
                <a:buChar char="•"/>
              </a:pPr>
              <a:r>
                <a:rPr lang="en-US" sz="2799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Statistical &amp; Threshold-based → fragile</a:t>
              </a:r>
            </a:p>
            <a:p>
              <a:pPr marL="604518" lvl="1" indent="-302259" algn="l">
                <a:lnSpc>
                  <a:spcPts val="3919"/>
                </a:lnSpc>
                <a:buFont typeface="Arial"/>
                <a:buChar char="•"/>
              </a:pPr>
              <a:r>
                <a:rPr lang="en-US" sz="2799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ML: SVM, k-NN → heavy feature engineering</a:t>
              </a:r>
            </a:p>
            <a:p>
              <a:pPr marL="604518" lvl="1" indent="-302259" algn="l">
                <a:lnSpc>
                  <a:spcPts val="3919"/>
                </a:lnSpc>
                <a:buFont typeface="Arial"/>
                <a:buChar char="•"/>
              </a:pPr>
              <a:r>
                <a:rPr lang="en-US" sz="2799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DL: RNNs/LSTMs, CNNs → learn features automatically</a:t>
              </a:r>
            </a:p>
            <a:p>
              <a:pPr marL="604518" lvl="1" indent="-302259" algn="l">
                <a:lnSpc>
                  <a:spcPts val="3919"/>
                </a:lnSpc>
                <a:buFont typeface="Arial"/>
                <a:buChar char="•"/>
              </a:pPr>
              <a:r>
                <a:rPr lang="en-US" sz="2799" b="1">
                  <a:solidFill>
                    <a:srgbClr val="C0C7D9"/>
                  </a:solidFill>
                  <a:latin typeface="Touvlo Bold"/>
                  <a:ea typeface="Touvlo Bold"/>
                  <a:cs typeface="Touvlo Bold"/>
                  <a:sym typeface="Touvlo Bold"/>
                </a:rPr>
                <a:t>Challenge:</a:t>
              </a:r>
              <a:r>
                <a:rPr lang="en-US" sz="2799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 Deep models are often too heavy for real-time use</a:t>
              </a:r>
            </a:p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endParaRPr lang="en-US" sz="2799">
                <a:solidFill>
                  <a:srgbClr val="C0C7D9"/>
                </a:solidFill>
                <a:latin typeface="Touvlo"/>
                <a:ea typeface="Touvlo"/>
                <a:cs typeface="Touvlo"/>
                <a:sym typeface="Touvlo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078605" y="2039392"/>
            <a:ext cx="9968573" cy="5687738"/>
          </a:xfrm>
          <a:custGeom>
            <a:avLst/>
            <a:gdLst/>
            <a:ahLst/>
            <a:cxnLst/>
            <a:rect l="l" t="t" r="r" b="b"/>
            <a:pathLst>
              <a:path w="9968573" h="5687738">
                <a:moveTo>
                  <a:pt x="0" y="0"/>
                </a:moveTo>
                <a:lnTo>
                  <a:pt x="9968573" y="0"/>
                </a:lnTo>
                <a:lnTo>
                  <a:pt x="9968573" y="5687738"/>
                </a:lnTo>
                <a:lnTo>
                  <a:pt x="0" y="56877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666750" y="666750"/>
            <a:ext cx="6933192" cy="8034021"/>
            <a:chOff x="0" y="0"/>
            <a:chExt cx="9244257" cy="10712028"/>
          </a:xfrm>
        </p:grpSpPr>
        <p:sp>
          <p:nvSpPr>
            <p:cNvPr id="4" name="TextBox 4"/>
            <p:cNvSpPr txBox="1"/>
            <p:nvPr/>
          </p:nvSpPr>
          <p:spPr>
            <a:xfrm>
              <a:off x="0" y="152400"/>
              <a:ext cx="9244257" cy="56083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8100"/>
                </a:lnSpc>
              </a:pPr>
              <a:r>
                <a:rPr lang="en-US" sz="8100" b="1">
                  <a:solidFill>
                    <a:srgbClr val="F0F3F9"/>
                  </a:solidFill>
                  <a:latin typeface="Proxima Nova Condensed Bold"/>
                  <a:ea typeface="Proxima Nova Condensed Bold"/>
                  <a:cs typeface="Proxima Nova Condensed Bold"/>
                  <a:sym typeface="Proxima Nova Condensed Bold"/>
                </a:rPr>
                <a:t>LUCID Lightweight CNN for DDoS detection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6126904"/>
              <a:ext cx="9244257" cy="45851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919"/>
                </a:lnSpc>
              </a:pPr>
              <a:endParaRPr/>
            </a:p>
            <a:p>
              <a:pPr algn="l">
                <a:lnSpc>
                  <a:spcPts val="3919"/>
                </a:lnSpc>
              </a:pPr>
              <a:endParaRPr/>
            </a:p>
            <a:p>
              <a:pPr marL="604518" lvl="1" indent="-302259" algn="l">
                <a:lnSpc>
                  <a:spcPts val="3919"/>
                </a:lnSpc>
                <a:buFont typeface="Arial"/>
                <a:buChar char="•"/>
              </a:pPr>
              <a:r>
                <a:rPr lang="en-US" sz="2799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1D CNN with only ~2,241 parameters</a:t>
              </a:r>
            </a:p>
            <a:p>
              <a:pPr marL="604518" lvl="1" indent="-302259" algn="l">
                <a:lnSpc>
                  <a:spcPts val="3919"/>
                </a:lnSpc>
                <a:buFont typeface="Arial"/>
                <a:buChar char="•"/>
              </a:pPr>
              <a:r>
                <a:rPr lang="en-US" sz="2799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Fast, 40x less overhead than 3LSTM</a:t>
              </a:r>
            </a:p>
            <a:p>
              <a:pPr marL="604518" lvl="1" indent="-302259" algn="l">
                <a:lnSpc>
                  <a:spcPts val="3919"/>
                </a:lnSpc>
                <a:buFont typeface="Arial"/>
                <a:buChar char="•"/>
              </a:pPr>
              <a:r>
                <a:rPr lang="en-US" sz="2799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Previously tested on older datasets (e.g., CSECIC2018)</a:t>
              </a:r>
            </a:p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endParaRPr lang="en-US" sz="2799">
                <a:solidFill>
                  <a:srgbClr val="C0C7D9"/>
                </a:solidFill>
                <a:latin typeface="Touvlo"/>
                <a:ea typeface="Touvlo"/>
                <a:cs typeface="Touvlo"/>
                <a:sym typeface="Touvlo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-5014748" y="5014748"/>
            <a:ext cx="10287000" cy="257505"/>
            <a:chOff x="0" y="0"/>
            <a:chExt cx="2709333" cy="678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67820"/>
            </a:xfrm>
            <a:custGeom>
              <a:avLst/>
              <a:gdLst/>
              <a:ahLst/>
              <a:cxnLst/>
              <a:rect l="l" t="t" r="r" b="b"/>
              <a:pathLst>
                <a:path w="2709333" h="67820">
                  <a:moveTo>
                    <a:pt x="0" y="0"/>
                  </a:moveTo>
                  <a:lnTo>
                    <a:pt x="2709333" y="0"/>
                  </a:lnTo>
                  <a:lnTo>
                    <a:pt x="2709333" y="67820"/>
                  </a:lnTo>
                  <a:lnTo>
                    <a:pt x="0" y="67820"/>
                  </a:lnTo>
                  <a:close/>
                </a:path>
              </a:pathLst>
            </a:custGeom>
            <a:solidFill>
              <a:srgbClr val="F0F3F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709333" cy="1059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2051768" y="3748318"/>
            <a:ext cx="14588965" cy="6400908"/>
          </a:xfrm>
          <a:custGeom>
            <a:avLst/>
            <a:gdLst/>
            <a:ahLst/>
            <a:cxnLst/>
            <a:rect l="l" t="t" r="r" b="b"/>
            <a:pathLst>
              <a:path w="14588965" h="6400908">
                <a:moveTo>
                  <a:pt x="0" y="0"/>
                </a:moveTo>
                <a:lnTo>
                  <a:pt x="14588964" y="0"/>
                </a:lnTo>
                <a:lnTo>
                  <a:pt x="14588964" y="6400908"/>
                </a:lnTo>
                <a:lnTo>
                  <a:pt x="0" y="64009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666750" y="838200"/>
            <a:ext cx="6886575" cy="2197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499"/>
              </a:lnSpc>
            </a:pPr>
            <a:r>
              <a:rPr lang="en-US" sz="8499" b="1">
                <a:solidFill>
                  <a:srgbClr val="F0F3F9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LUCID++ Enhancements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346250" y="1028700"/>
            <a:ext cx="7913050" cy="2457450"/>
            <a:chOff x="0" y="0"/>
            <a:chExt cx="10550733" cy="3276600"/>
          </a:xfrm>
        </p:grpSpPr>
        <p:sp>
          <p:nvSpPr>
            <p:cNvPr id="8" name="TextBox 8"/>
            <p:cNvSpPr txBox="1"/>
            <p:nvPr/>
          </p:nvSpPr>
          <p:spPr>
            <a:xfrm>
              <a:off x="0" y="-66675"/>
              <a:ext cx="10550733" cy="6762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200"/>
                </a:lnSpc>
              </a:pPr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09507"/>
              <a:ext cx="10550733" cy="25670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080"/>
                </a:lnSpc>
                <a:spcBef>
                  <a:spcPct val="0"/>
                </a:spcBef>
              </a:pPr>
              <a:r>
                <a:rPr lang="en-US" sz="2200" b="1">
                  <a:solidFill>
                    <a:srgbClr val="C0C7D9"/>
                  </a:solidFill>
                  <a:latin typeface="Touvlo Bold"/>
                  <a:ea typeface="Touvlo Bold"/>
                  <a:cs typeface="Touvlo Bold"/>
                  <a:sym typeface="Touvlo Bold"/>
                </a:rPr>
                <a:t>Bat</a:t>
              </a:r>
              <a:r>
                <a:rPr lang="en-US" sz="2200" b="1" u="none" strike="noStrike">
                  <a:solidFill>
                    <a:srgbClr val="C0C7D9"/>
                  </a:solidFill>
                  <a:latin typeface="Touvlo Bold"/>
                  <a:ea typeface="Touvlo Bold"/>
                  <a:cs typeface="Touvlo Bold"/>
                  <a:sym typeface="Touvlo Bold"/>
                </a:rPr>
                <a:t>ch Normalization → stabilizes training</a:t>
              </a:r>
            </a:p>
            <a:p>
              <a:pPr marL="0" lvl="0" indent="0" algn="l">
                <a:lnSpc>
                  <a:spcPts val="3080"/>
                </a:lnSpc>
                <a:spcBef>
                  <a:spcPct val="0"/>
                </a:spcBef>
              </a:pPr>
              <a:endParaRPr lang="en-US" sz="2200" b="1" u="none" strike="noStrike">
                <a:solidFill>
                  <a:srgbClr val="C0C7D9"/>
                </a:solidFill>
                <a:latin typeface="Touvlo Bold"/>
                <a:ea typeface="Touvlo Bold"/>
                <a:cs typeface="Touvlo Bold"/>
                <a:sym typeface="Touvlo Bold"/>
              </a:endParaRPr>
            </a:p>
            <a:p>
              <a:pPr marL="0" lvl="0" indent="0" algn="l">
                <a:lnSpc>
                  <a:spcPts val="3080"/>
                </a:lnSpc>
                <a:spcBef>
                  <a:spcPct val="0"/>
                </a:spcBef>
              </a:pPr>
              <a:r>
                <a:rPr lang="en-US" sz="2200" u="none" strike="noStrike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Hidden Dense Layer → learns richer patterns</a:t>
              </a:r>
            </a:p>
            <a:p>
              <a:pPr marL="0" lvl="0" indent="0" algn="l">
                <a:lnSpc>
                  <a:spcPts val="3080"/>
                </a:lnSpc>
                <a:spcBef>
                  <a:spcPct val="0"/>
                </a:spcBef>
              </a:pPr>
              <a:endParaRPr lang="en-US" sz="2200" u="none" strike="noStrike">
                <a:solidFill>
                  <a:srgbClr val="C0C7D9"/>
                </a:solidFill>
                <a:latin typeface="Touvlo"/>
                <a:ea typeface="Touvlo"/>
                <a:cs typeface="Touvlo"/>
                <a:sym typeface="Touvlo"/>
              </a:endParaRPr>
            </a:p>
            <a:p>
              <a:pPr marL="0" lvl="0" indent="0" algn="l">
                <a:lnSpc>
                  <a:spcPts val="3080"/>
                </a:lnSpc>
                <a:spcBef>
                  <a:spcPct val="0"/>
                </a:spcBef>
              </a:pPr>
              <a:r>
                <a:rPr lang="en-US" sz="2200" u="none" strike="noStrike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Dropout → reduces overfitting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858125" y="0"/>
            <a:ext cx="10429875" cy="10287000"/>
            <a:chOff x="0" y="0"/>
            <a:chExt cx="2348858" cy="231668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48858" cy="2316681"/>
            </a:xfrm>
            <a:custGeom>
              <a:avLst/>
              <a:gdLst/>
              <a:ahLst/>
              <a:cxnLst/>
              <a:rect l="l" t="t" r="r" b="b"/>
              <a:pathLst>
                <a:path w="2348858" h="2316681">
                  <a:moveTo>
                    <a:pt x="0" y="0"/>
                  </a:moveTo>
                  <a:lnTo>
                    <a:pt x="2348858" y="0"/>
                  </a:lnTo>
                  <a:lnTo>
                    <a:pt x="2348858" y="2316681"/>
                  </a:lnTo>
                  <a:lnTo>
                    <a:pt x="0" y="2316681"/>
                  </a:lnTo>
                  <a:close/>
                </a:path>
              </a:pathLst>
            </a:custGeom>
            <a:blipFill>
              <a:blip r:embed="rId2"/>
              <a:stretch>
                <a:fillRect l="-193" r="-193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590209" y="559593"/>
            <a:ext cx="6220390" cy="7707158"/>
            <a:chOff x="0" y="0"/>
            <a:chExt cx="8293853" cy="10276211"/>
          </a:xfrm>
        </p:grpSpPr>
        <p:sp>
          <p:nvSpPr>
            <p:cNvPr id="5" name="TextBox 5"/>
            <p:cNvSpPr txBox="1"/>
            <p:nvPr/>
          </p:nvSpPr>
          <p:spPr>
            <a:xfrm>
              <a:off x="0" y="161925"/>
              <a:ext cx="8293853" cy="3809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618"/>
                </a:lnSpc>
                <a:spcBef>
                  <a:spcPct val="0"/>
                </a:spcBef>
              </a:pPr>
              <a:r>
                <a:rPr lang="en-US" sz="8618" b="1">
                  <a:solidFill>
                    <a:srgbClr val="F0F3F9"/>
                  </a:solidFill>
                  <a:latin typeface="Proxima Nova Condensed Bold"/>
                  <a:ea typeface="Proxima Nova Condensed Bold"/>
                  <a:cs typeface="Proxima Nova Condensed Bold"/>
                  <a:sym typeface="Proxima Nova Condensed Bold"/>
                </a:rPr>
                <a:t>Dat</a:t>
              </a:r>
              <a:r>
                <a:rPr lang="en-US" sz="8618" b="1" u="none" strike="noStrike">
                  <a:solidFill>
                    <a:srgbClr val="F0F3F9"/>
                  </a:solidFill>
                  <a:latin typeface="Proxima Nova Condensed Bold"/>
                  <a:ea typeface="Proxima Nova Condensed Bold"/>
                  <a:cs typeface="Proxima Nova Condensed Bold"/>
                  <a:sym typeface="Proxima Nova Condensed Bold"/>
                </a:rPr>
                <a:t>aset &amp; Preprocessing</a:t>
              </a:r>
            </a:p>
            <a:p>
              <a:pPr marL="0" lvl="0" indent="0" algn="l">
                <a:lnSpc>
                  <a:spcPts val="4894"/>
                </a:lnSpc>
                <a:spcBef>
                  <a:spcPct val="0"/>
                </a:spcBef>
              </a:pPr>
              <a:r>
                <a:rPr lang="en-US" sz="4894" b="1" u="none" strike="noStrike">
                  <a:solidFill>
                    <a:srgbClr val="F0F3F9"/>
                  </a:solidFill>
                  <a:latin typeface="Proxima Nova Condensed Bold"/>
                  <a:ea typeface="Proxima Nova Condensed Bold"/>
                  <a:cs typeface="Proxima Nova Condensed Bold"/>
                  <a:sym typeface="Proxima Nova Condensed Bold"/>
                </a:rPr>
                <a:t>Dataset: </a:t>
              </a:r>
              <a:r>
                <a:rPr lang="en-US" sz="4894" u="none" strike="noStrike">
                  <a:solidFill>
                    <a:srgbClr val="F0F3F9"/>
                  </a:solidFill>
                  <a:latin typeface="Proxima Nova Condensed"/>
                  <a:ea typeface="Proxima Nova Condensed"/>
                  <a:cs typeface="Proxima Nova Condensed"/>
                  <a:sym typeface="Proxima Nova Condensed"/>
                </a:rPr>
                <a:t>CIC-DDoS2019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698708"/>
              <a:ext cx="8293853" cy="557750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643198" lvl="1" indent="-321599" algn="l">
                <a:lnSpc>
                  <a:spcPts val="4170"/>
                </a:lnSpc>
                <a:buFont typeface="Arial"/>
                <a:buChar char="•"/>
              </a:pPr>
              <a:r>
                <a:rPr lang="en-US" sz="2979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10-second windows grouped by flow</a:t>
              </a:r>
            </a:p>
            <a:p>
              <a:pPr algn="l">
                <a:lnSpc>
                  <a:spcPts val="4170"/>
                </a:lnSpc>
              </a:pPr>
              <a:endParaRPr lang="en-US" sz="2979">
                <a:solidFill>
                  <a:srgbClr val="C0C7D9"/>
                </a:solidFill>
                <a:latin typeface="Touvlo"/>
                <a:ea typeface="Touvlo"/>
                <a:cs typeface="Touvlo"/>
                <a:sym typeface="Touvlo"/>
              </a:endParaRPr>
            </a:p>
            <a:p>
              <a:pPr marL="643198" lvl="1" indent="-321599" algn="l">
                <a:lnSpc>
                  <a:spcPts val="4170"/>
                </a:lnSpc>
                <a:buFont typeface="Arial"/>
                <a:buChar char="•"/>
              </a:pPr>
              <a:r>
                <a:rPr lang="en-US" sz="2979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11 features per packet (no IPs/ports)</a:t>
              </a:r>
            </a:p>
            <a:p>
              <a:pPr algn="l">
                <a:lnSpc>
                  <a:spcPts val="4170"/>
                </a:lnSpc>
              </a:pPr>
              <a:endParaRPr lang="en-US" sz="2979">
                <a:solidFill>
                  <a:srgbClr val="C0C7D9"/>
                </a:solidFill>
                <a:latin typeface="Touvlo"/>
                <a:ea typeface="Touvlo"/>
                <a:cs typeface="Touvlo"/>
                <a:sym typeface="Touvlo"/>
              </a:endParaRPr>
            </a:p>
            <a:p>
              <a:pPr marL="643198" lvl="1" indent="-321599" algn="l">
                <a:lnSpc>
                  <a:spcPts val="4170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979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Shape: (10, 11, 1) → suitable for CNN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-5014748" y="5014748"/>
            <a:ext cx="10287000" cy="257505"/>
            <a:chOff x="0" y="0"/>
            <a:chExt cx="2709333" cy="678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67820"/>
            </a:xfrm>
            <a:custGeom>
              <a:avLst/>
              <a:gdLst/>
              <a:ahLst/>
              <a:cxnLst/>
              <a:rect l="l" t="t" r="r" b="b"/>
              <a:pathLst>
                <a:path w="2709333" h="67820">
                  <a:moveTo>
                    <a:pt x="0" y="0"/>
                  </a:moveTo>
                  <a:lnTo>
                    <a:pt x="2709333" y="0"/>
                  </a:lnTo>
                  <a:lnTo>
                    <a:pt x="2709333" y="67820"/>
                  </a:lnTo>
                  <a:lnTo>
                    <a:pt x="0" y="67820"/>
                  </a:lnTo>
                  <a:close/>
                </a:path>
              </a:pathLst>
            </a:custGeom>
            <a:solidFill>
              <a:srgbClr val="F0F3F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709333" cy="1059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917853" y="2464371"/>
            <a:ext cx="8995817" cy="3380311"/>
          </a:xfrm>
          <a:custGeom>
            <a:avLst/>
            <a:gdLst/>
            <a:ahLst/>
            <a:cxnLst/>
            <a:rect l="l" t="t" r="r" b="b"/>
            <a:pathLst>
              <a:path w="8995817" h="3380311">
                <a:moveTo>
                  <a:pt x="0" y="0"/>
                </a:moveTo>
                <a:lnTo>
                  <a:pt x="8995817" y="0"/>
                </a:lnTo>
                <a:lnTo>
                  <a:pt x="8995817" y="3380311"/>
                </a:lnTo>
                <a:lnTo>
                  <a:pt x="0" y="33803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777" b="-777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666750" y="838200"/>
            <a:ext cx="12639675" cy="1120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499"/>
              </a:lnSpc>
            </a:pPr>
            <a:r>
              <a:rPr lang="en-US" sz="8499" b="1">
                <a:solidFill>
                  <a:srgbClr val="F0F3F9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Evaluation Setup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538287" y="2847075"/>
            <a:ext cx="5448300" cy="3973830"/>
            <a:chOff x="0" y="0"/>
            <a:chExt cx="7264400" cy="5298440"/>
          </a:xfrm>
        </p:grpSpPr>
        <p:sp>
          <p:nvSpPr>
            <p:cNvPr id="8" name="TextBox 8"/>
            <p:cNvSpPr txBox="1"/>
            <p:nvPr/>
          </p:nvSpPr>
          <p:spPr>
            <a:xfrm>
              <a:off x="0" y="-57150"/>
              <a:ext cx="7264400" cy="6540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199"/>
                </a:lnSpc>
                <a:spcBef>
                  <a:spcPct val="0"/>
                </a:spcBef>
              </a:pPr>
              <a:endParaRPr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648547"/>
              <a:ext cx="7264400" cy="46498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474979" lvl="1" indent="-237490" algn="l">
                <a:lnSpc>
                  <a:spcPts val="3079"/>
                </a:lnSpc>
                <a:buFont typeface="Arial"/>
                <a:buChar char="•"/>
              </a:pPr>
              <a:r>
                <a:rPr lang="en-US" sz="2199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5-Fold C</a:t>
              </a:r>
              <a:r>
                <a:rPr lang="en-US" sz="2199" u="none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ross Validation with GridSearchCV</a:t>
              </a:r>
            </a:p>
            <a:p>
              <a:pPr algn="l">
                <a:lnSpc>
                  <a:spcPts val="3079"/>
                </a:lnSpc>
              </a:pPr>
              <a:endParaRPr lang="en-US" sz="2199" u="none">
                <a:solidFill>
                  <a:srgbClr val="C0C7D9"/>
                </a:solidFill>
                <a:latin typeface="Touvlo"/>
                <a:ea typeface="Touvlo"/>
                <a:cs typeface="Touvlo"/>
                <a:sym typeface="Touvlo"/>
              </a:endParaRPr>
            </a:p>
            <a:p>
              <a:pPr marL="474979" lvl="1" indent="-237490" algn="l">
                <a:lnSpc>
                  <a:spcPts val="3079"/>
                </a:lnSpc>
                <a:buFont typeface="Arial"/>
                <a:buChar char="•"/>
              </a:pPr>
              <a:r>
                <a:rPr lang="en-US" sz="2199" u="none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Tested 1920 hyperparameter combinations</a:t>
              </a:r>
            </a:p>
            <a:p>
              <a:pPr algn="l">
                <a:lnSpc>
                  <a:spcPts val="3079"/>
                </a:lnSpc>
              </a:pPr>
              <a:endParaRPr lang="en-US" sz="2199" u="none">
                <a:solidFill>
                  <a:srgbClr val="C0C7D9"/>
                </a:solidFill>
                <a:latin typeface="Touvlo"/>
                <a:ea typeface="Touvlo"/>
                <a:cs typeface="Touvlo"/>
                <a:sym typeface="Touvlo"/>
              </a:endParaRPr>
            </a:p>
            <a:p>
              <a:pPr marL="474979" lvl="1" indent="-237490" algn="l">
                <a:lnSpc>
                  <a:spcPts val="3079"/>
                </a:lnSpc>
                <a:buFont typeface="Arial"/>
                <a:buChar char="•"/>
              </a:pPr>
              <a:r>
                <a:rPr lang="en-US" sz="2199" u="none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Evaluated on Accuracy, F1, TPR, FPR, ROC-AUC</a:t>
              </a:r>
            </a:p>
            <a:p>
              <a:pPr marL="0" lvl="0" indent="0" algn="l">
                <a:lnSpc>
                  <a:spcPts val="3079"/>
                </a:lnSpc>
              </a:pPr>
              <a:endParaRPr lang="en-US" sz="2199" u="none">
                <a:solidFill>
                  <a:srgbClr val="C0C7D9"/>
                </a:solidFill>
                <a:latin typeface="Touvlo"/>
                <a:ea typeface="Touvlo"/>
                <a:cs typeface="Touvlo"/>
                <a:sym typeface="Touvlo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6817169" cy="10287000"/>
            <a:chOff x="0" y="0"/>
            <a:chExt cx="1795503" cy="270926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95503" cy="2709268"/>
            </a:xfrm>
            <a:custGeom>
              <a:avLst/>
              <a:gdLst/>
              <a:ahLst/>
              <a:cxnLst/>
              <a:rect l="l" t="t" r="r" b="b"/>
              <a:pathLst>
                <a:path w="1795503" h="2709268">
                  <a:moveTo>
                    <a:pt x="1795503" y="0"/>
                  </a:moveTo>
                  <a:lnTo>
                    <a:pt x="1795503" y="2709268"/>
                  </a:lnTo>
                  <a:lnTo>
                    <a:pt x="0" y="27092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52A5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795503" cy="2756893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marL="0" lvl="0" indent="0" algn="l">
                <a:lnSpc>
                  <a:spcPts val="3748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66750" y="666750"/>
            <a:ext cx="5753100" cy="3551492"/>
            <a:chOff x="0" y="0"/>
            <a:chExt cx="7670800" cy="4735322"/>
          </a:xfrm>
        </p:grpSpPr>
        <p:sp>
          <p:nvSpPr>
            <p:cNvPr id="6" name="TextBox 6"/>
            <p:cNvSpPr txBox="1"/>
            <p:nvPr/>
          </p:nvSpPr>
          <p:spPr>
            <a:xfrm>
              <a:off x="0" y="171450"/>
              <a:ext cx="7670800" cy="29866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499"/>
                </a:lnSpc>
                <a:spcBef>
                  <a:spcPct val="0"/>
                </a:spcBef>
              </a:pPr>
              <a:r>
                <a:rPr lang="en-US" sz="8499" b="1">
                  <a:solidFill>
                    <a:srgbClr val="F0F3F9"/>
                  </a:solidFill>
                  <a:latin typeface="Proxima Nova Condensed Bold"/>
                  <a:ea typeface="Proxima Nova Condensed Bold"/>
                  <a:cs typeface="Proxima Nova Condensed Bold"/>
                  <a:sym typeface="Proxima Nova Condensed Bold"/>
                </a:rPr>
                <a:t>Results Summary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533775"/>
              <a:ext cx="7670800" cy="12015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748"/>
                </a:lnSpc>
                <a:spcBef>
                  <a:spcPct val="0"/>
                </a:spcBef>
              </a:pPr>
              <a:r>
                <a:rPr lang="en-US" sz="2677" u="none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Key statistics for model performance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507263" y="1190133"/>
            <a:ext cx="6418310" cy="2278008"/>
            <a:chOff x="0" y="0"/>
            <a:chExt cx="1434434" cy="50911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34434" cy="509114"/>
            </a:xfrm>
            <a:custGeom>
              <a:avLst/>
              <a:gdLst/>
              <a:ahLst/>
              <a:cxnLst/>
              <a:rect l="l" t="t" r="r" b="b"/>
              <a:pathLst>
                <a:path w="1434434" h="509114">
                  <a:moveTo>
                    <a:pt x="18093" y="0"/>
                  </a:moveTo>
                  <a:lnTo>
                    <a:pt x="1416341" y="0"/>
                  </a:lnTo>
                  <a:cubicBezTo>
                    <a:pt x="1426333" y="0"/>
                    <a:pt x="1434434" y="8101"/>
                    <a:pt x="1434434" y="18093"/>
                  </a:cubicBezTo>
                  <a:lnTo>
                    <a:pt x="1434434" y="491021"/>
                  </a:lnTo>
                  <a:cubicBezTo>
                    <a:pt x="1434434" y="495819"/>
                    <a:pt x="1432528" y="500422"/>
                    <a:pt x="1429135" y="503815"/>
                  </a:cubicBezTo>
                  <a:cubicBezTo>
                    <a:pt x="1425741" y="507208"/>
                    <a:pt x="1421139" y="509114"/>
                    <a:pt x="1416341" y="509114"/>
                  </a:cubicBezTo>
                  <a:lnTo>
                    <a:pt x="18093" y="509114"/>
                  </a:lnTo>
                  <a:cubicBezTo>
                    <a:pt x="8101" y="509114"/>
                    <a:pt x="0" y="501014"/>
                    <a:pt x="0" y="491021"/>
                  </a:cubicBezTo>
                  <a:lnTo>
                    <a:pt x="0" y="18093"/>
                  </a:lnTo>
                  <a:cubicBezTo>
                    <a:pt x="0" y="13295"/>
                    <a:pt x="1906" y="8693"/>
                    <a:pt x="5299" y="5299"/>
                  </a:cubicBezTo>
                  <a:cubicBezTo>
                    <a:pt x="8693" y="1906"/>
                    <a:pt x="13295" y="0"/>
                    <a:pt x="18093" y="0"/>
                  </a:cubicBezTo>
                  <a:close/>
                </a:path>
              </a:pathLst>
            </a:custGeom>
            <a:solidFill>
              <a:srgbClr val="F0F3F9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133350"/>
              <a:ext cx="1434434" cy="642464"/>
            </a:xfrm>
            <a:prstGeom prst="rect">
              <a:avLst/>
            </a:prstGeom>
          </p:spPr>
          <p:txBody>
            <a:bodyPr lIns="43083" tIns="43083" rIns="43083" bIns="43083" rtlCol="0" anchor="ctr"/>
            <a:lstStyle/>
            <a:p>
              <a:pPr marL="0" lvl="0" indent="0" algn="ctr">
                <a:lnSpc>
                  <a:spcPts val="952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508104" y="1190133"/>
            <a:ext cx="3659354" cy="2278008"/>
            <a:chOff x="0" y="0"/>
            <a:chExt cx="817832" cy="50911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7832" cy="509114"/>
            </a:xfrm>
            <a:custGeom>
              <a:avLst/>
              <a:gdLst/>
              <a:ahLst/>
              <a:cxnLst/>
              <a:rect l="l" t="t" r="r" b="b"/>
              <a:pathLst>
                <a:path w="817832" h="509114">
                  <a:moveTo>
                    <a:pt x="31735" y="0"/>
                  </a:moveTo>
                  <a:lnTo>
                    <a:pt x="786098" y="0"/>
                  </a:lnTo>
                  <a:cubicBezTo>
                    <a:pt x="803624" y="0"/>
                    <a:pt x="817832" y="14208"/>
                    <a:pt x="817832" y="31735"/>
                  </a:cubicBezTo>
                  <a:lnTo>
                    <a:pt x="817832" y="477379"/>
                  </a:lnTo>
                  <a:cubicBezTo>
                    <a:pt x="817832" y="485796"/>
                    <a:pt x="814489" y="493868"/>
                    <a:pt x="808537" y="499819"/>
                  </a:cubicBezTo>
                  <a:cubicBezTo>
                    <a:pt x="802586" y="505771"/>
                    <a:pt x="794514" y="509114"/>
                    <a:pt x="786098" y="509114"/>
                  </a:cubicBezTo>
                  <a:lnTo>
                    <a:pt x="31735" y="509114"/>
                  </a:lnTo>
                  <a:cubicBezTo>
                    <a:pt x="23318" y="509114"/>
                    <a:pt x="15246" y="505771"/>
                    <a:pt x="9295" y="499819"/>
                  </a:cubicBezTo>
                  <a:cubicBezTo>
                    <a:pt x="3343" y="493868"/>
                    <a:pt x="0" y="485796"/>
                    <a:pt x="0" y="477379"/>
                  </a:cubicBezTo>
                  <a:lnTo>
                    <a:pt x="0" y="31735"/>
                  </a:lnTo>
                  <a:cubicBezTo>
                    <a:pt x="0" y="23318"/>
                    <a:pt x="3343" y="15246"/>
                    <a:pt x="9295" y="9295"/>
                  </a:cubicBezTo>
                  <a:cubicBezTo>
                    <a:pt x="15246" y="3343"/>
                    <a:pt x="23318" y="0"/>
                    <a:pt x="31735" y="0"/>
                  </a:cubicBezTo>
                  <a:close/>
                </a:path>
              </a:pathLst>
            </a:custGeom>
            <a:solidFill>
              <a:srgbClr val="152A5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133350"/>
              <a:ext cx="817832" cy="642464"/>
            </a:xfrm>
            <a:prstGeom prst="rect">
              <a:avLst/>
            </a:prstGeom>
          </p:spPr>
          <p:txBody>
            <a:bodyPr lIns="43083" tIns="43083" rIns="43083" bIns="43083" rtlCol="0" anchor="ctr"/>
            <a:lstStyle/>
            <a:p>
              <a:pPr marL="0" lvl="0" indent="0" algn="ctr">
                <a:lnSpc>
                  <a:spcPts val="952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4372877" y="1943072"/>
            <a:ext cx="2353784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</a:pPr>
            <a:r>
              <a:rPr lang="en-US" sz="3999" b="1">
                <a:solidFill>
                  <a:srgbClr val="152A55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ACCURACY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32200" y="1912274"/>
            <a:ext cx="3140677" cy="964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209"/>
              </a:lnSpc>
            </a:pPr>
            <a:r>
              <a:rPr lang="en-US" sz="7209" b="1">
                <a:solidFill>
                  <a:srgbClr val="F0F3F9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98.93%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7599757" y="1190133"/>
            <a:ext cx="3632443" cy="2278008"/>
            <a:chOff x="0" y="0"/>
            <a:chExt cx="1128058" cy="707437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128058" cy="707437"/>
            </a:xfrm>
            <a:custGeom>
              <a:avLst/>
              <a:gdLst/>
              <a:ahLst/>
              <a:cxnLst/>
              <a:rect l="l" t="t" r="r" b="b"/>
              <a:pathLst>
                <a:path w="1128058" h="707437">
                  <a:moveTo>
                    <a:pt x="36233" y="0"/>
                  </a:moveTo>
                  <a:lnTo>
                    <a:pt x="1091825" y="0"/>
                  </a:lnTo>
                  <a:cubicBezTo>
                    <a:pt x="1101435" y="0"/>
                    <a:pt x="1110651" y="3817"/>
                    <a:pt x="1117446" y="10612"/>
                  </a:cubicBezTo>
                  <a:cubicBezTo>
                    <a:pt x="1124240" y="17407"/>
                    <a:pt x="1128058" y="26623"/>
                    <a:pt x="1128058" y="36233"/>
                  </a:cubicBezTo>
                  <a:lnTo>
                    <a:pt x="1128058" y="671205"/>
                  </a:lnTo>
                  <a:cubicBezTo>
                    <a:pt x="1128058" y="691215"/>
                    <a:pt x="1111836" y="707437"/>
                    <a:pt x="1091825" y="707437"/>
                  </a:cubicBezTo>
                  <a:lnTo>
                    <a:pt x="36233" y="707437"/>
                  </a:lnTo>
                  <a:cubicBezTo>
                    <a:pt x="26623" y="707437"/>
                    <a:pt x="17407" y="703620"/>
                    <a:pt x="10612" y="696825"/>
                  </a:cubicBezTo>
                  <a:cubicBezTo>
                    <a:pt x="3817" y="690030"/>
                    <a:pt x="0" y="680814"/>
                    <a:pt x="0" y="671205"/>
                  </a:cubicBezTo>
                  <a:lnTo>
                    <a:pt x="0" y="36233"/>
                  </a:lnTo>
                  <a:cubicBezTo>
                    <a:pt x="0" y="26623"/>
                    <a:pt x="3817" y="17407"/>
                    <a:pt x="10612" y="10612"/>
                  </a:cubicBezTo>
                  <a:cubicBezTo>
                    <a:pt x="17407" y="3817"/>
                    <a:pt x="26623" y="0"/>
                    <a:pt x="36233" y="0"/>
                  </a:cubicBezTo>
                  <a:close/>
                </a:path>
              </a:pathLst>
            </a:custGeom>
            <a:solidFill>
              <a:srgbClr val="6B8CBE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1128058" cy="745537"/>
            </a:xfrm>
            <a:prstGeom prst="rect">
              <a:avLst/>
            </a:prstGeom>
          </p:spPr>
          <p:txBody>
            <a:bodyPr lIns="43083" tIns="43083" rIns="43083" bIns="43083" rtlCol="0" anchor="ctr"/>
            <a:lstStyle/>
            <a:p>
              <a:pPr algn="ctr">
                <a:lnSpc>
                  <a:spcPts val="2945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8349241" y="1905496"/>
            <a:ext cx="2347068" cy="96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08"/>
              </a:lnSpc>
              <a:spcBef>
                <a:spcPct val="0"/>
              </a:spcBef>
            </a:pPr>
            <a:r>
              <a:rPr lang="en-US" sz="7208" b="1">
                <a:solidFill>
                  <a:srgbClr val="000000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98.5%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507263" y="3468141"/>
            <a:ext cx="6418310" cy="2278008"/>
            <a:chOff x="0" y="0"/>
            <a:chExt cx="1434434" cy="50911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34434" cy="509114"/>
            </a:xfrm>
            <a:custGeom>
              <a:avLst/>
              <a:gdLst/>
              <a:ahLst/>
              <a:cxnLst/>
              <a:rect l="l" t="t" r="r" b="b"/>
              <a:pathLst>
                <a:path w="1434434" h="509114">
                  <a:moveTo>
                    <a:pt x="18093" y="0"/>
                  </a:moveTo>
                  <a:lnTo>
                    <a:pt x="1416341" y="0"/>
                  </a:lnTo>
                  <a:cubicBezTo>
                    <a:pt x="1426333" y="0"/>
                    <a:pt x="1434434" y="8101"/>
                    <a:pt x="1434434" y="18093"/>
                  </a:cubicBezTo>
                  <a:lnTo>
                    <a:pt x="1434434" y="491021"/>
                  </a:lnTo>
                  <a:cubicBezTo>
                    <a:pt x="1434434" y="495819"/>
                    <a:pt x="1432528" y="500422"/>
                    <a:pt x="1429135" y="503815"/>
                  </a:cubicBezTo>
                  <a:cubicBezTo>
                    <a:pt x="1425741" y="507208"/>
                    <a:pt x="1421139" y="509114"/>
                    <a:pt x="1416341" y="509114"/>
                  </a:cubicBezTo>
                  <a:lnTo>
                    <a:pt x="18093" y="509114"/>
                  </a:lnTo>
                  <a:cubicBezTo>
                    <a:pt x="8101" y="509114"/>
                    <a:pt x="0" y="501014"/>
                    <a:pt x="0" y="491021"/>
                  </a:cubicBezTo>
                  <a:lnTo>
                    <a:pt x="0" y="18093"/>
                  </a:lnTo>
                  <a:cubicBezTo>
                    <a:pt x="0" y="13295"/>
                    <a:pt x="1906" y="8693"/>
                    <a:pt x="5299" y="5299"/>
                  </a:cubicBezTo>
                  <a:cubicBezTo>
                    <a:pt x="8693" y="1906"/>
                    <a:pt x="13295" y="0"/>
                    <a:pt x="18093" y="0"/>
                  </a:cubicBezTo>
                  <a:close/>
                </a:path>
              </a:pathLst>
            </a:custGeom>
            <a:solidFill>
              <a:srgbClr val="F0F3F9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133350"/>
              <a:ext cx="1434434" cy="642464"/>
            </a:xfrm>
            <a:prstGeom prst="rect">
              <a:avLst/>
            </a:prstGeom>
          </p:spPr>
          <p:txBody>
            <a:bodyPr lIns="43083" tIns="43083" rIns="43083" bIns="43083" rtlCol="0" anchor="ctr"/>
            <a:lstStyle/>
            <a:p>
              <a:pPr marL="0" lvl="0" indent="0" algn="ctr">
                <a:lnSpc>
                  <a:spcPts val="952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508104" y="3468141"/>
            <a:ext cx="3659354" cy="2278008"/>
            <a:chOff x="0" y="0"/>
            <a:chExt cx="817832" cy="509114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7832" cy="509114"/>
            </a:xfrm>
            <a:custGeom>
              <a:avLst/>
              <a:gdLst/>
              <a:ahLst/>
              <a:cxnLst/>
              <a:rect l="l" t="t" r="r" b="b"/>
              <a:pathLst>
                <a:path w="817832" h="509114">
                  <a:moveTo>
                    <a:pt x="31735" y="0"/>
                  </a:moveTo>
                  <a:lnTo>
                    <a:pt x="786098" y="0"/>
                  </a:lnTo>
                  <a:cubicBezTo>
                    <a:pt x="803624" y="0"/>
                    <a:pt x="817832" y="14208"/>
                    <a:pt x="817832" y="31735"/>
                  </a:cubicBezTo>
                  <a:lnTo>
                    <a:pt x="817832" y="477379"/>
                  </a:lnTo>
                  <a:cubicBezTo>
                    <a:pt x="817832" y="485796"/>
                    <a:pt x="814489" y="493868"/>
                    <a:pt x="808537" y="499819"/>
                  </a:cubicBezTo>
                  <a:cubicBezTo>
                    <a:pt x="802586" y="505771"/>
                    <a:pt x="794514" y="509114"/>
                    <a:pt x="786098" y="509114"/>
                  </a:cubicBezTo>
                  <a:lnTo>
                    <a:pt x="31735" y="509114"/>
                  </a:lnTo>
                  <a:cubicBezTo>
                    <a:pt x="23318" y="509114"/>
                    <a:pt x="15246" y="505771"/>
                    <a:pt x="9295" y="499819"/>
                  </a:cubicBezTo>
                  <a:cubicBezTo>
                    <a:pt x="3343" y="493868"/>
                    <a:pt x="0" y="485796"/>
                    <a:pt x="0" y="477379"/>
                  </a:cubicBezTo>
                  <a:lnTo>
                    <a:pt x="0" y="31735"/>
                  </a:lnTo>
                  <a:cubicBezTo>
                    <a:pt x="0" y="23318"/>
                    <a:pt x="3343" y="15246"/>
                    <a:pt x="9295" y="9295"/>
                  </a:cubicBezTo>
                  <a:cubicBezTo>
                    <a:pt x="15246" y="3343"/>
                    <a:pt x="23318" y="0"/>
                    <a:pt x="31735" y="0"/>
                  </a:cubicBezTo>
                  <a:close/>
                </a:path>
              </a:pathLst>
            </a:custGeom>
            <a:solidFill>
              <a:srgbClr val="152A55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133350"/>
              <a:ext cx="817832" cy="642464"/>
            </a:xfrm>
            <a:prstGeom prst="rect">
              <a:avLst/>
            </a:prstGeom>
          </p:spPr>
          <p:txBody>
            <a:bodyPr lIns="43083" tIns="43083" rIns="43083" bIns="43083" rtlCol="0" anchor="ctr"/>
            <a:lstStyle/>
            <a:p>
              <a:pPr marL="0" lvl="0" indent="0" algn="ctr">
                <a:lnSpc>
                  <a:spcPts val="952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4457072" y="4142042"/>
            <a:ext cx="2185394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</a:pPr>
            <a:r>
              <a:rPr lang="en-US" sz="3999" b="1">
                <a:solidFill>
                  <a:srgbClr val="152A55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F1-SCORE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020134" y="4191729"/>
            <a:ext cx="3140677" cy="964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209"/>
              </a:lnSpc>
            </a:pPr>
            <a:r>
              <a:rPr lang="en-US" sz="7209" b="1">
                <a:solidFill>
                  <a:srgbClr val="F0F3F9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0.</a:t>
            </a:r>
            <a:r>
              <a:rPr lang="en-US" sz="7209" b="1" u="none" strike="noStrike">
                <a:solidFill>
                  <a:srgbClr val="F0F3F9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9903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7599757" y="3468141"/>
            <a:ext cx="3632443" cy="2278008"/>
            <a:chOff x="0" y="0"/>
            <a:chExt cx="1128058" cy="707437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128058" cy="707437"/>
            </a:xfrm>
            <a:custGeom>
              <a:avLst/>
              <a:gdLst/>
              <a:ahLst/>
              <a:cxnLst/>
              <a:rect l="l" t="t" r="r" b="b"/>
              <a:pathLst>
                <a:path w="1128058" h="707437">
                  <a:moveTo>
                    <a:pt x="36233" y="0"/>
                  </a:moveTo>
                  <a:lnTo>
                    <a:pt x="1091825" y="0"/>
                  </a:lnTo>
                  <a:cubicBezTo>
                    <a:pt x="1101435" y="0"/>
                    <a:pt x="1110651" y="3817"/>
                    <a:pt x="1117446" y="10612"/>
                  </a:cubicBezTo>
                  <a:cubicBezTo>
                    <a:pt x="1124240" y="17407"/>
                    <a:pt x="1128058" y="26623"/>
                    <a:pt x="1128058" y="36233"/>
                  </a:cubicBezTo>
                  <a:lnTo>
                    <a:pt x="1128058" y="671205"/>
                  </a:lnTo>
                  <a:cubicBezTo>
                    <a:pt x="1128058" y="691215"/>
                    <a:pt x="1111836" y="707437"/>
                    <a:pt x="1091825" y="707437"/>
                  </a:cubicBezTo>
                  <a:lnTo>
                    <a:pt x="36233" y="707437"/>
                  </a:lnTo>
                  <a:cubicBezTo>
                    <a:pt x="26623" y="707437"/>
                    <a:pt x="17407" y="703620"/>
                    <a:pt x="10612" y="696825"/>
                  </a:cubicBezTo>
                  <a:cubicBezTo>
                    <a:pt x="3817" y="690030"/>
                    <a:pt x="0" y="680814"/>
                    <a:pt x="0" y="671205"/>
                  </a:cubicBezTo>
                  <a:lnTo>
                    <a:pt x="0" y="36233"/>
                  </a:lnTo>
                  <a:cubicBezTo>
                    <a:pt x="0" y="26623"/>
                    <a:pt x="3817" y="17407"/>
                    <a:pt x="10612" y="10612"/>
                  </a:cubicBezTo>
                  <a:cubicBezTo>
                    <a:pt x="17407" y="3817"/>
                    <a:pt x="26623" y="0"/>
                    <a:pt x="36233" y="0"/>
                  </a:cubicBezTo>
                  <a:close/>
                </a:path>
              </a:pathLst>
            </a:custGeom>
            <a:solidFill>
              <a:srgbClr val="6B8CBE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1128058" cy="745537"/>
            </a:xfrm>
            <a:prstGeom prst="rect">
              <a:avLst/>
            </a:prstGeom>
          </p:spPr>
          <p:txBody>
            <a:bodyPr lIns="43083" tIns="43083" rIns="43083" bIns="43083" rtlCol="0" anchor="ctr"/>
            <a:lstStyle/>
            <a:p>
              <a:pPr algn="ctr">
                <a:lnSpc>
                  <a:spcPts val="2945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99757" y="4192535"/>
            <a:ext cx="3489612" cy="962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08"/>
              </a:lnSpc>
              <a:spcBef>
                <a:spcPct val="0"/>
              </a:spcBef>
            </a:pPr>
            <a:r>
              <a:rPr lang="en-US" sz="7208" b="1">
                <a:solidFill>
                  <a:srgbClr val="000000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0.9866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10507263" y="5644129"/>
            <a:ext cx="6418310" cy="2278008"/>
            <a:chOff x="0" y="0"/>
            <a:chExt cx="1434434" cy="50911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434434" cy="509114"/>
            </a:xfrm>
            <a:custGeom>
              <a:avLst/>
              <a:gdLst/>
              <a:ahLst/>
              <a:cxnLst/>
              <a:rect l="l" t="t" r="r" b="b"/>
              <a:pathLst>
                <a:path w="1434434" h="509114">
                  <a:moveTo>
                    <a:pt x="18093" y="0"/>
                  </a:moveTo>
                  <a:lnTo>
                    <a:pt x="1416341" y="0"/>
                  </a:lnTo>
                  <a:cubicBezTo>
                    <a:pt x="1426333" y="0"/>
                    <a:pt x="1434434" y="8101"/>
                    <a:pt x="1434434" y="18093"/>
                  </a:cubicBezTo>
                  <a:lnTo>
                    <a:pt x="1434434" y="491021"/>
                  </a:lnTo>
                  <a:cubicBezTo>
                    <a:pt x="1434434" y="495819"/>
                    <a:pt x="1432528" y="500422"/>
                    <a:pt x="1429135" y="503815"/>
                  </a:cubicBezTo>
                  <a:cubicBezTo>
                    <a:pt x="1425741" y="507208"/>
                    <a:pt x="1421139" y="509114"/>
                    <a:pt x="1416341" y="509114"/>
                  </a:cubicBezTo>
                  <a:lnTo>
                    <a:pt x="18093" y="509114"/>
                  </a:lnTo>
                  <a:cubicBezTo>
                    <a:pt x="8101" y="509114"/>
                    <a:pt x="0" y="501014"/>
                    <a:pt x="0" y="491021"/>
                  </a:cubicBezTo>
                  <a:lnTo>
                    <a:pt x="0" y="18093"/>
                  </a:lnTo>
                  <a:cubicBezTo>
                    <a:pt x="0" y="13295"/>
                    <a:pt x="1906" y="8693"/>
                    <a:pt x="5299" y="5299"/>
                  </a:cubicBezTo>
                  <a:cubicBezTo>
                    <a:pt x="8693" y="1906"/>
                    <a:pt x="13295" y="0"/>
                    <a:pt x="18093" y="0"/>
                  </a:cubicBezTo>
                  <a:close/>
                </a:path>
              </a:pathLst>
            </a:custGeom>
            <a:solidFill>
              <a:srgbClr val="F0F3F9"/>
            </a:solidFill>
          </p:spPr>
        </p:sp>
        <p:sp>
          <p:nvSpPr>
            <p:cNvPr id="34" name="TextBox 34"/>
            <p:cNvSpPr txBox="1"/>
            <p:nvPr/>
          </p:nvSpPr>
          <p:spPr>
            <a:xfrm>
              <a:off x="0" y="-133350"/>
              <a:ext cx="1434434" cy="642464"/>
            </a:xfrm>
            <a:prstGeom prst="rect">
              <a:avLst/>
            </a:prstGeom>
          </p:spPr>
          <p:txBody>
            <a:bodyPr lIns="43083" tIns="43083" rIns="43083" bIns="43083" rtlCol="0" anchor="ctr"/>
            <a:lstStyle/>
            <a:p>
              <a:pPr marL="0" lvl="0" indent="0" algn="ctr">
                <a:lnSpc>
                  <a:spcPts val="952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0508104" y="5644129"/>
            <a:ext cx="3659354" cy="2278008"/>
            <a:chOff x="0" y="0"/>
            <a:chExt cx="817832" cy="509114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17832" cy="509114"/>
            </a:xfrm>
            <a:custGeom>
              <a:avLst/>
              <a:gdLst/>
              <a:ahLst/>
              <a:cxnLst/>
              <a:rect l="l" t="t" r="r" b="b"/>
              <a:pathLst>
                <a:path w="817832" h="509114">
                  <a:moveTo>
                    <a:pt x="31735" y="0"/>
                  </a:moveTo>
                  <a:lnTo>
                    <a:pt x="786098" y="0"/>
                  </a:lnTo>
                  <a:cubicBezTo>
                    <a:pt x="803624" y="0"/>
                    <a:pt x="817832" y="14208"/>
                    <a:pt x="817832" y="31735"/>
                  </a:cubicBezTo>
                  <a:lnTo>
                    <a:pt x="817832" y="477379"/>
                  </a:lnTo>
                  <a:cubicBezTo>
                    <a:pt x="817832" y="485796"/>
                    <a:pt x="814489" y="493868"/>
                    <a:pt x="808537" y="499819"/>
                  </a:cubicBezTo>
                  <a:cubicBezTo>
                    <a:pt x="802586" y="505771"/>
                    <a:pt x="794514" y="509114"/>
                    <a:pt x="786098" y="509114"/>
                  </a:cubicBezTo>
                  <a:lnTo>
                    <a:pt x="31735" y="509114"/>
                  </a:lnTo>
                  <a:cubicBezTo>
                    <a:pt x="23318" y="509114"/>
                    <a:pt x="15246" y="505771"/>
                    <a:pt x="9295" y="499819"/>
                  </a:cubicBezTo>
                  <a:cubicBezTo>
                    <a:pt x="3343" y="493868"/>
                    <a:pt x="0" y="485796"/>
                    <a:pt x="0" y="477379"/>
                  </a:cubicBezTo>
                  <a:lnTo>
                    <a:pt x="0" y="31735"/>
                  </a:lnTo>
                  <a:cubicBezTo>
                    <a:pt x="0" y="23318"/>
                    <a:pt x="3343" y="15246"/>
                    <a:pt x="9295" y="9295"/>
                  </a:cubicBezTo>
                  <a:cubicBezTo>
                    <a:pt x="15246" y="3343"/>
                    <a:pt x="23318" y="0"/>
                    <a:pt x="31735" y="0"/>
                  </a:cubicBezTo>
                  <a:close/>
                </a:path>
              </a:pathLst>
            </a:custGeom>
            <a:solidFill>
              <a:srgbClr val="152A55"/>
            </a:solidFill>
          </p:spPr>
        </p:sp>
        <p:sp>
          <p:nvSpPr>
            <p:cNvPr id="37" name="TextBox 37"/>
            <p:cNvSpPr txBox="1"/>
            <p:nvPr/>
          </p:nvSpPr>
          <p:spPr>
            <a:xfrm>
              <a:off x="0" y="-133350"/>
              <a:ext cx="817832" cy="642464"/>
            </a:xfrm>
            <a:prstGeom prst="rect">
              <a:avLst/>
            </a:prstGeom>
          </p:spPr>
          <p:txBody>
            <a:bodyPr lIns="43083" tIns="43083" rIns="43083" bIns="43083" rtlCol="0" anchor="ctr"/>
            <a:lstStyle/>
            <a:p>
              <a:pPr marL="0" lvl="0" indent="0" algn="ctr">
                <a:lnSpc>
                  <a:spcPts val="952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14372877" y="6381232"/>
            <a:ext cx="2185394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</a:pPr>
            <a:r>
              <a:rPr lang="en-US" sz="3999" b="1">
                <a:solidFill>
                  <a:srgbClr val="152A55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TPR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089369" y="6343640"/>
            <a:ext cx="3140677" cy="964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209"/>
              </a:lnSpc>
            </a:pPr>
            <a:r>
              <a:rPr lang="en-US" sz="7209" b="1" u="none" strike="noStrike">
                <a:solidFill>
                  <a:srgbClr val="F0F3F9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99.22%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7599757" y="5644129"/>
            <a:ext cx="3632443" cy="2278008"/>
            <a:chOff x="0" y="0"/>
            <a:chExt cx="1128058" cy="707437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128058" cy="707437"/>
            </a:xfrm>
            <a:custGeom>
              <a:avLst/>
              <a:gdLst/>
              <a:ahLst/>
              <a:cxnLst/>
              <a:rect l="l" t="t" r="r" b="b"/>
              <a:pathLst>
                <a:path w="1128058" h="707437">
                  <a:moveTo>
                    <a:pt x="36233" y="0"/>
                  </a:moveTo>
                  <a:lnTo>
                    <a:pt x="1091825" y="0"/>
                  </a:lnTo>
                  <a:cubicBezTo>
                    <a:pt x="1101435" y="0"/>
                    <a:pt x="1110651" y="3817"/>
                    <a:pt x="1117446" y="10612"/>
                  </a:cubicBezTo>
                  <a:cubicBezTo>
                    <a:pt x="1124240" y="17407"/>
                    <a:pt x="1128058" y="26623"/>
                    <a:pt x="1128058" y="36233"/>
                  </a:cubicBezTo>
                  <a:lnTo>
                    <a:pt x="1128058" y="671205"/>
                  </a:lnTo>
                  <a:cubicBezTo>
                    <a:pt x="1128058" y="691215"/>
                    <a:pt x="1111836" y="707437"/>
                    <a:pt x="1091825" y="707437"/>
                  </a:cubicBezTo>
                  <a:lnTo>
                    <a:pt x="36233" y="707437"/>
                  </a:lnTo>
                  <a:cubicBezTo>
                    <a:pt x="26623" y="707437"/>
                    <a:pt x="17407" y="703620"/>
                    <a:pt x="10612" y="696825"/>
                  </a:cubicBezTo>
                  <a:cubicBezTo>
                    <a:pt x="3817" y="690030"/>
                    <a:pt x="0" y="680814"/>
                    <a:pt x="0" y="671205"/>
                  </a:cubicBezTo>
                  <a:lnTo>
                    <a:pt x="0" y="36233"/>
                  </a:lnTo>
                  <a:cubicBezTo>
                    <a:pt x="0" y="26623"/>
                    <a:pt x="3817" y="17407"/>
                    <a:pt x="10612" y="10612"/>
                  </a:cubicBezTo>
                  <a:cubicBezTo>
                    <a:pt x="17407" y="3817"/>
                    <a:pt x="26623" y="0"/>
                    <a:pt x="36233" y="0"/>
                  </a:cubicBezTo>
                  <a:close/>
                </a:path>
              </a:pathLst>
            </a:custGeom>
            <a:solidFill>
              <a:srgbClr val="6B8CBE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38100"/>
              <a:ext cx="1128058" cy="745537"/>
            </a:xfrm>
            <a:prstGeom prst="rect">
              <a:avLst/>
            </a:prstGeom>
          </p:spPr>
          <p:txBody>
            <a:bodyPr lIns="43083" tIns="43083" rIns="43083" bIns="43083" rtlCol="0" anchor="ctr"/>
            <a:lstStyle/>
            <a:p>
              <a:pPr algn="ctr">
                <a:lnSpc>
                  <a:spcPts val="2945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99757" y="6368523"/>
            <a:ext cx="3632443" cy="2788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08"/>
              </a:lnSpc>
              <a:spcBef>
                <a:spcPct val="0"/>
              </a:spcBef>
            </a:pPr>
            <a:r>
              <a:rPr lang="en-US" sz="7208" b="1">
                <a:solidFill>
                  <a:srgbClr val="000000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99.61%</a:t>
            </a:r>
          </a:p>
          <a:p>
            <a:pPr algn="ctr">
              <a:lnSpc>
                <a:spcPts val="7208"/>
              </a:lnSpc>
              <a:spcBef>
                <a:spcPct val="0"/>
              </a:spcBef>
            </a:pPr>
            <a:endParaRPr lang="en-US" sz="7208" b="1">
              <a:solidFill>
                <a:srgbClr val="000000"/>
              </a:solidFill>
              <a:latin typeface="Proxima Nova Condensed Bold"/>
              <a:ea typeface="Proxima Nova Condensed Bold"/>
              <a:cs typeface="Proxima Nova Condensed Bold"/>
              <a:sym typeface="Proxima Nova Condensed Bold"/>
            </a:endParaRPr>
          </a:p>
          <a:p>
            <a:pPr algn="ctr">
              <a:lnSpc>
                <a:spcPts val="7208"/>
              </a:lnSpc>
              <a:spcBef>
                <a:spcPct val="0"/>
              </a:spcBef>
            </a:pPr>
            <a:endParaRPr lang="en-US" sz="7208" b="1">
              <a:solidFill>
                <a:srgbClr val="000000"/>
              </a:solidFill>
              <a:latin typeface="Proxima Nova Condensed Bold"/>
              <a:ea typeface="Proxima Nova Condensed Bold"/>
              <a:cs typeface="Proxima Nova Condensed Bold"/>
              <a:sym typeface="Proxima Nova Condensed Bold"/>
            </a:endParaRPr>
          </a:p>
        </p:txBody>
      </p:sp>
      <p:grpSp>
        <p:nvGrpSpPr>
          <p:cNvPr id="44" name="Group 44"/>
          <p:cNvGrpSpPr/>
          <p:nvPr/>
        </p:nvGrpSpPr>
        <p:grpSpPr>
          <a:xfrm>
            <a:off x="10507263" y="7771964"/>
            <a:ext cx="6418310" cy="2278008"/>
            <a:chOff x="0" y="0"/>
            <a:chExt cx="1434434" cy="509114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434434" cy="509114"/>
            </a:xfrm>
            <a:custGeom>
              <a:avLst/>
              <a:gdLst/>
              <a:ahLst/>
              <a:cxnLst/>
              <a:rect l="l" t="t" r="r" b="b"/>
              <a:pathLst>
                <a:path w="1434434" h="509114">
                  <a:moveTo>
                    <a:pt x="18093" y="0"/>
                  </a:moveTo>
                  <a:lnTo>
                    <a:pt x="1416341" y="0"/>
                  </a:lnTo>
                  <a:cubicBezTo>
                    <a:pt x="1426333" y="0"/>
                    <a:pt x="1434434" y="8101"/>
                    <a:pt x="1434434" y="18093"/>
                  </a:cubicBezTo>
                  <a:lnTo>
                    <a:pt x="1434434" y="491021"/>
                  </a:lnTo>
                  <a:cubicBezTo>
                    <a:pt x="1434434" y="495819"/>
                    <a:pt x="1432528" y="500422"/>
                    <a:pt x="1429135" y="503815"/>
                  </a:cubicBezTo>
                  <a:cubicBezTo>
                    <a:pt x="1425741" y="507208"/>
                    <a:pt x="1421139" y="509114"/>
                    <a:pt x="1416341" y="509114"/>
                  </a:cubicBezTo>
                  <a:lnTo>
                    <a:pt x="18093" y="509114"/>
                  </a:lnTo>
                  <a:cubicBezTo>
                    <a:pt x="8101" y="509114"/>
                    <a:pt x="0" y="501014"/>
                    <a:pt x="0" y="491021"/>
                  </a:cubicBezTo>
                  <a:lnTo>
                    <a:pt x="0" y="18093"/>
                  </a:lnTo>
                  <a:cubicBezTo>
                    <a:pt x="0" y="13295"/>
                    <a:pt x="1906" y="8693"/>
                    <a:pt x="5299" y="5299"/>
                  </a:cubicBezTo>
                  <a:cubicBezTo>
                    <a:pt x="8693" y="1906"/>
                    <a:pt x="13295" y="0"/>
                    <a:pt x="18093" y="0"/>
                  </a:cubicBezTo>
                  <a:close/>
                </a:path>
              </a:pathLst>
            </a:custGeom>
            <a:solidFill>
              <a:srgbClr val="F0F3F9"/>
            </a:solidFill>
          </p:spPr>
        </p:sp>
        <p:sp>
          <p:nvSpPr>
            <p:cNvPr id="46" name="TextBox 46"/>
            <p:cNvSpPr txBox="1"/>
            <p:nvPr/>
          </p:nvSpPr>
          <p:spPr>
            <a:xfrm>
              <a:off x="0" y="-133350"/>
              <a:ext cx="1434434" cy="642464"/>
            </a:xfrm>
            <a:prstGeom prst="rect">
              <a:avLst/>
            </a:prstGeom>
          </p:spPr>
          <p:txBody>
            <a:bodyPr lIns="43083" tIns="43083" rIns="43083" bIns="43083" rtlCol="0" anchor="ctr"/>
            <a:lstStyle/>
            <a:p>
              <a:pPr marL="0" lvl="0" indent="0" algn="ctr">
                <a:lnSpc>
                  <a:spcPts val="952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0508104" y="7771964"/>
            <a:ext cx="3659354" cy="2278008"/>
            <a:chOff x="0" y="0"/>
            <a:chExt cx="817832" cy="509114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817832" cy="509114"/>
            </a:xfrm>
            <a:custGeom>
              <a:avLst/>
              <a:gdLst/>
              <a:ahLst/>
              <a:cxnLst/>
              <a:rect l="l" t="t" r="r" b="b"/>
              <a:pathLst>
                <a:path w="817832" h="509114">
                  <a:moveTo>
                    <a:pt x="31735" y="0"/>
                  </a:moveTo>
                  <a:lnTo>
                    <a:pt x="786098" y="0"/>
                  </a:lnTo>
                  <a:cubicBezTo>
                    <a:pt x="803624" y="0"/>
                    <a:pt x="817832" y="14208"/>
                    <a:pt x="817832" y="31735"/>
                  </a:cubicBezTo>
                  <a:lnTo>
                    <a:pt x="817832" y="477379"/>
                  </a:lnTo>
                  <a:cubicBezTo>
                    <a:pt x="817832" y="485796"/>
                    <a:pt x="814489" y="493868"/>
                    <a:pt x="808537" y="499819"/>
                  </a:cubicBezTo>
                  <a:cubicBezTo>
                    <a:pt x="802586" y="505771"/>
                    <a:pt x="794514" y="509114"/>
                    <a:pt x="786098" y="509114"/>
                  </a:cubicBezTo>
                  <a:lnTo>
                    <a:pt x="31735" y="509114"/>
                  </a:lnTo>
                  <a:cubicBezTo>
                    <a:pt x="23318" y="509114"/>
                    <a:pt x="15246" y="505771"/>
                    <a:pt x="9295" y="499819"/>
                  </a:cubicBezTo>
                  <a:cubicBezTo>
                    <a:pt x="3343" y="493868"/>
                    <a:pt x="0" y="485796"/>
                    <a:pt x="0" y="477379"/>
                  </a:cubicBezTo>
                  <a:lnTo>
                    <a:pt x="0" y="31735"/>
                  </a:lnTo>
                  <a:cubicBezTo>
                    <a:pt x="0" y="23318"/>
                    <a:pt x="3343" y="15246"/>
                    <a:pt x="9295" y="9295"/>
                  </a:cubicBezTo>
                  <a:cubicBezTo>
                    <a:pt x="15246" y="3343"/>
                    <a:pt x="23318" y="0"/>
                    <a:pt x="31735" y="0"/>
                  </a:cubicBezTo>
                  <a:close/>
                </a:path>
              </a:pathLst>
            </a:custGeom>
            <a:solidFill>
              <a:srgbClr val="152A55"/>
            </a:solidFill>
          </p:spPr>
        </p:sp>
        <p:sp>
          <p:nvSpPr>
            <p:cNvPr id="49" name="TextBox 49"/>
            <p:cNvSpPr txBox="1"/>
            <p:nvPr/>
          </p:nvSpPr>
          <p:spPr>
            <a:xfrm>
              <a:off x="0" y="-133350"/>
              <a:ext cx="817832" cy="642464"/>
            </a:xfrm>
            <a:prstGeom prst="rect">
              <a:avLst/>
            </a:prstGeom>
          </p:spPr>
          <p:txBody>
            <a:bodyPr lIns="43083" tIns="43083" rIns="43083" bIns="43083" rtlCol="0" anchor="ctr"/>
            <a:lstStyle/>
            <a:p>
              <a:pPr marL="0" lvl="0" indent="0" algn="ctr">
                <a:lnSpc>
                  <a:spcPts val="952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14457072" y="8477281"/>
            <a:ext cx="2185394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</a:pPr>
            <a:r>
              <a:rPr lang="en-US" sz="3999" b="1">
                <a:solidFill>
                  <a:srgbClr val="152A55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FPR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089369" y="8494105"/>
            <a:ext cx="3140677" cy="964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209"/>
              </a:lnSpc>
            </a:pPr>
            <a:r>
              <a:rPr lang="en-US" sz="7209" b="1">
                <a:solidFill>
                  <a:srgbClr val="F0F3F9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1.43</a:t>
            </a:r>
            <a:r>
              <a:rPr lang="en-US" sz="7209" b="1" u="none" strike="noStrike">
                <a:solidFill>
                  <a:srgbClr val="F0F3F9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%</a:t>
            </a:r>
          </a:p>
        </p:txBody>
      </p:sp>
      <p:grpSp>
        <p:nvGrpSpPr>
          <p:cNvPr id="52" name="Group 52"/>
          <p:cNvGrpSpPr/>
          <p:nvPr/>
        </p:nvGrpSpPr>
        <p:grpSpPr>
          <a:xfrm>
            <a:off x="7599757" y="7771964"/>
            <a:ext cx="3632443" cy="2278008"/>
            <a:chOff x="0" y="0"/>
            <a:chExt cx="1128058" cy="707437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128058" cy="707437"/>
            </a:xfrm>
            <a:custGeom>
              <a:avLst/>
              <a:gdLst/>
              <a:ahLst/>
              <a:cxnLst/>
              <a:rect l="l" t="t" r="r" b="b"/>
              <a:pathLst>
                <a:path w="1128058" h="707437">
                  <a:moveTo>
                    <a:pt x="36233" y="0"/>
                  </a:moveTo>
                  <a:lnTo>
                    <a:pt x="1091825" y="0"/>
                  </a:lnTo>
                  <a:cubicBezTo>
                    <a:pt x="1101435" y="0"/>
                    <a:pt x="1110651" y="3817"/>
                    <a:pt x="1117446" y="10612"/>
                  </a:cubicBezTo>
                  <a:cubicBezTo>
                    <a:pt x="1124240" y="17407"/>
                    <a:pt x="1128058" y="26623"/>
                    <a:pt x="1128058" y="36233"/>
                  </a:cubicBezTo>
                  <a:lnTo>
                    <a:pt x="1128058" y="671205"/>
                  </a:lnTo>
                  <a:cubicBezTo>
                    <a:pt x="1128058" y="691215"/>
                    <a:pt x="1111836" y="707437"/>
                    <a:pt x="1091825" y="707437"/>
                  </a:cubicBezTo>
                  <a:lnTo>
                    <a:pt x="36233" y="707437"/>
                  </a:lnTo>
                  <a:cubicBezTo>
                    <a:pt x="26623" y="707437"/>
                    <a:pt x="17407" y="703620"/>
                    <a:pt x="10612" y="696825"/>
                  </a:cubicBezTo>
                  <a:cubicBezTo>
                    <a:pt x="3817" y="690030"/>
                    <a:pt x="0" y="680814"/>
                    <a:pt x="0" y="671205"/>
                  </a:cubicBezTo>
                  <a:lnTo>
                    <a:pt x="0" y="36233"/>
                  </a:lnTo>
                  <a:cubicBezTo>
                    <a:pt x="0" y="26623"/>
                    <a:pt x="3817" y="17407"/>
                    <a:pt x="10612" y="10612"/>
                  </a:cubicBezTo>
                  <a:cubicBezTo>
                    <a:pt x="17407" y="3817"/>
                    <a:pt x="26623" y="0"/>
                    <a:pt x="36233" y="0"/>
                  </a:cubicBezTo>
                  <a:close/>
                </a:path>
              </a:pathLst>
            </a:custGeom>
            <a:solidFill>
              <a:srgbClr val="6B8CBE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38100"/>
              <a:ext cx="1128058" cy="745537"/>
            </a:xfrm>
            <a:prstGeom prst="rect">
              <a:avLst/>
            </a:prstGeom>
          </p:spPr>
          <p:txBody>
            <a:bodyPr lIns="43083" tIns="43083" rIns="43083" bIns="43083" rtlCol="0" anchor="ctr"/>
            <a:lstStyle/>
            <a:p>
              <a:pPr algn="ctr">
                <a:lnSpc>
                  <a:spcPts val="2945"/>
                </a:lnSpc>
              </a:pPr>
              <a:endParaRPr/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99757" y="8496358"/>
            <a:ext cx="3489612" cy="962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08"/>
              </a:lnSpc>
              <a:spcBef>
                <a:spcPct val="0"/>
              </a:spcBef>
            </a:pPr>
            <a:r>
              <a:rPr lang="en-US" sz="7208" b="1">
                <a:solidFill>
                  <a:srgbClr val="000000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2.86%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7599757" y="95769"/>
            <a:ext cx="6561054" cy="1141963"/>
            <a:chOff x="0" y="0"/>
            <a:chExt cx="1728014" cy="30076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1728014" cy="300764"/>
            </a:xfrm>
            <a:custGeom>
              <a:avLst/>
              <a:gdLst/>
              <a:ahLst/>
              <a:cxnLst/>
              <a:rect l="l" t="t" r="r" b="b"/>
              <a:pathLst>
                <a:path w="1728014" h="300764">
                  <a:moveTo>
                    <a:pt x="20060" y="0"/>
                  </a:moveTo>
                  <a:lnTo>
                    <a:pt x="1707955" y="0"/>
                  </a:lnTo>
                  <a:cubicBezTo>
                    <a:pt x="1719033" y="0"/>
                    <a:pt x="1728014" y="8981"/>
                    <a:pt x="1728014" y="20060"/>
                  </a:cubicBezTo>
                  <a:lnTo>
                    <a:pt x="1728014" y="280704"/>
                  </a:lnTo>
                  <a:cubicBezTo>
                    <a:pt x="1728014" y="291783"/>
                    <a:pt x="1719033" y="300764"/>
                    <a:pt x="1707955" y="300764"/>
                  </a:cubicBezTo>
                  <a:lnTo>
                    <a:pt x="20060" y="300764"/>
                  </a:lnTo>
                  <a:cubicBezTo>
                    <a:pt x="14740" y="300764"/>
                    <a:pt x="9637" y="298650"/>
                    <a:pt x="5875" y="294888"/>
                  </a:cubicBezTo>
                  <a:cubicBezTo>
                    <a:pt x="2113" y="291127"/>
                    <a:pt x="0" y="286024"/>
                    <a:pt x="0" y="280704"/>
                  </a:cubicBezTo>
                  <a:lnTo>
                    <a:pt x="0" y="20060"/>
                  </a:lnTo>
                  <a:cubicBezTo>
                    <a:pt x="0" y="8981"/>
                    <a:pt x="8981" y="0"/>
                    <a:pt x="20060" y="0"/>
                  </a:cubicBezTo>
                  <a:close/>
                </a:path>
              </a:pathLst>
            </a:custGeom>
            <a:solidFill>
              <a:srgbClr val="5E6785"/>
            </a:solidFill>
          </p:spPr>
        </p:sp>
        <p:sp>
          <p:nvSpPr>
            <p:cNvPr id="58" name="TextBox 58"/>
            <p:cNvSpPr txBox="1"/>
            <p:nvPr/>
          </p:nvSpPr>
          <p:spPr>
            <a:xfrm>
              <a:off x="0" y="-28575"/>
              <a:ext cx="1728014" cy="3293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97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8533216" y="521484"/>
            <a:ext cx="1642700" cy="5243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  <a:spcBef>
                <a:spcPct val="0"/>
              </a:spcBef>
            </a:pPr>
            <a:r>
              <a:rPr lang="en-US" sz="3199" b="1" dirty="0">
                <a:solidFill>
                  <a:srgbClr val="FFFFFF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LUCID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1781185" y="521484"/>
            <a:ext cx="1780798" cy="5243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  <a:spcBef>
                <a:spcPct val="0"/>
              </a:spcBef>
            </a:pPr>
            <a:r>
              <a:rPr lang="en-US" sz="3199" b="1">
                <a:solidFill>
                  <a:srgbClr val="FFFFFF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LUCID++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-5014748" y="5014748"/>
            <a:ext cx="10287000" cy="257505"/>
            <a:chOff x="0" y="0"/>
            <a:chExt cx="2709333" cy="678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67820"/>
            </a:xfrm>
            <a:custGeom>
              <a:avLst/>
              <a:gdLst/>
              <a:ahLst/>
              <a:cxnLst/>
              <a:rect l="l" t="t" r="r" b="b"/>
              <a:pathLst>
                <a:path w="2709333" h="67820">
                  <a:moveTo>
                    <a:pt x="0" y="0"/>
                  </a:moveTo>
                  <a:lnTo>
                    <a:pt x="2709333" y="0"/>
                  </a:lnTo>
                  <a:lnTo>
                    <a:pt x="2709333" y="67820"/>
                  </a:lnTo>
                  <a:lnTo>
                    <a:pt x="0" y="67820"/>
                  </a:lnTo>
                  <a:close/>
                </a:path>
              </a:pathLst>
            </a:custGeom>
            <a:solidFill>
              <a:srgbClr val="F0F3F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709333" cy="1059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07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5330599" y="825643"/>
            <a:ext cx="12337014" cy="5084219"/>
          </a:xfrm>
          <a:custGeom>
            <a:avLst/>
            <a:gdLst/>
            <a:ahLst/>
            <a:cxnLst/>
            <a:rect l="l" t="t" r="r" b="b"/>
            <a:pathLst>
              <a:path w="12337014" h="5084219">
                <a:moveTo>
                  <a:pt x="0" y="0"/>
                </a:moveTo>
                <a:lnTo>
                  <a:pt x="12337014" y="0"/>
                </a:lnTo>
                <a:lnTo>
                  <a:pt x="12337014" y="5084219"/>
                </a:lnTo>
                <a:lnTo>
                  <a:pt x="0" y="50842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666750" y="838200"/>
            <a:ext cx="6886575" cy="2197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499"/>
              </a:lnSpc>
            </a:pPr>
            <a:r>
              <a:rPr lang="en-US" sz="8499" b="1">
                <a:solidFill>
                  <a:srgbClr val="F0F3F9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Training Dynamics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58599" y="6538003"/>
            <a:ext cx="9144000" cy="2444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47" lvl="1" indent="-377824" algn="ctr">
              <a:lnSpc>
                <a:spcPts val="4899"/>
              </a:lnSpc>
              <a:spcBef>
                <a:spcPct val="0"/>
              </a:spcBef>
              <a:buFont typeface="Arial"/>
              <a:buChar char="•"/>
            </a:pPr>
            <a:r>
              <a:rPr lang="en-US" sz="3499" b="1">
                <a:solidFill>
                  <a:srgbClr val="FFFFFF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Stable accuracy &amp; loss curves</a:t>
            </a:r>
          </a:p>
          <a:p>
            <a:pPr algn="ctr">
              <a:lnSpc>
                <a:spcPts val="4899"/>
              </a:lnSpc>
              <a:spcBef>
                <a:spcPct val="0"/>
              </a:spcBef>
            </a:pPr>
            <a:endParaRPr lang="en-US" sz="3499" b="1">
              <a:solidFill>
                <a:srgbClr val="FFFFFF"/>
              </a:solidFill>
              <a:latin typeface="Proxima Nova Condensed Bold"/>
              <a:ea typeface="Proxima Nova Condensed Bold"/>
              <a:cs typeface="Proxima Nova Condensed Bold"/>
              <a:sym typeface="Proxima Nova Condensed Bold"/>
            </a:endParaRPr>
          </a:p>
          <a:p>
            <a:pPr algn="ctr">
              <a:lnSpc>
                <a:spcPts val="4899"/>
              </a:lnSpc>
              <a:spcBef>
                <a:spcPct val="0"/>
              </a:spcBef>
            </a:pPr>
            <a:endParaRPr lang="en-US" sz="3499" b="1">
              <a:solidFill>
                <a:srgbClr val="FFFFFF"/>
              </a:solidFill>
              <a:latin typeface="Proxima Nova Condensed Bold"/>
              <a:ea typeface="Proxima Nova Condensed Bold"/>
              <a:cs typeface="Proxima Nova Condensed Bold"/>
              <a:sym typeface="Proxima Nova Condensed Bold"/>
            </a:endParaRPr>
          </a:p>
          <a:p>
            <a:pPr marL="755647" lvl="1" indent="-377824" algn="ctr">
              <a:lnSpc>
                <a:spcPts val="4899"/>
              </a:lnSpc>
              <a:spcBef>
                <a:spcPct val="0"/>
              </a:spcBef>
              <a:buFont typeface="Arial"/>
              <a:buChar char="•"/>
            </a:pPr>
            <a:r>
              <a:rPr lang="en-US" sz="3499" b="1">
                <a:solidFill>
                  <a:srgbClr val="FFFFFF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No overfitting → thanks to BatchNorm + Dropout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-1214437" y="1214437"/>
            <a:ext cx="10287000" cy="7858125"/>
            <a:chOff x="0" y="0"/>
            <a:chExt cx="2709333" cy="206963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2069630"/>
            </a:xfrm>
            <a:custGeom>
              <a:avLst/>
              <a:gdLst/>
              <a:ahLst/>
              <a:cxnLst/>
              <a:rect l="l" t="t" r="r" b="b"/>
              <a:pathLst>
                <a:path w="2709333" h="2069630">
                  <a:moveTo>
                    <a:pt x="0" y="0"/>
                  </a:moveTo>
                  <a:lnTo>
                    <a:pt x="2709333" y="0"/>
                  </a:lnTo>
                  <a:lnTo>
                    <a:pt x="2709333" y="2069630"/>
                  </a:lnTo>
                  <a:lnTo>
                    <a:pt x="0" y="2069630"/>
                  </a:lnTo>
                  <a:close/>
                </a:path>
              </a:pathLst>
            </a:custGeom>
            <a:solidFill>
              <a:srgbClr val="152A5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709333" cy="21267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391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9258973" y="1863175"/>
            <a:ext cx="7515987" cy="5856474"/>
          </a:xfrm>
          <a:custGeom>
            <a:avLst/>
            <a:gdLst/>
            <a:ahLst/>
            <a:cxnLst/>
            <a:rect l="l" t="t" r="r" b="b"/>
            <a:pathLst>
              <a:path w="7515987" h="5856474">
                <a:moveTo>
                  <a:pt x="0" y="0"/>
                </a:moveTo>
                <a:lnTo>
                  <a:pt x="7515987" y="0"/>
                </a:lnTo>
                <a:lnTo>
                  <a:pt x="7515987" y="5856474"/>
                </a:lnTo>
                <a:lnTo>
                  <a:pt x="0" y="58564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462298" y="1227706"/>
            <a:ext cx="7395827" cy="6336030"/>
            <a:chOff x="0" y="0"/>
            <a:chExt cx="9861103" cy="8448040"/>
          </a:xfrm>
        </p:grpSpPr>
        <p:sp>
          <p:nvSpPr>
            <p:cNvPr id="7" name="TextBox 7"/>
            <p:cNvSpPr txBox="1"/>
            <p:nvPr/>
          </p:nvSpPr>
          <p:spPr>
            <a:xfrm>
              <a:off x="0" y="171450"/>
              <a:ext cx="9861103" cy="29866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499"/>
                </a:lnSpc>
              </a:pPr>
              <a:r>
                <a:rPr lang="en-US" sz="8499" b="1">
                  <a:solidFill>
                    <a:srgbClr val="F0F3F9"/>
                  </a:solidFill>
                  <a:latin typeface="Proxima Nova Condensed Bold"/>
                  <a:ea typeface="Proxima Nova Condensed Bold"/>
                  <a:cs typeface="Proxima Nova Condensed Bold"/>
                  <a:sym typeface="Proxima Nova Condensed Bold"/>
                </a:rPr>
                <a:t>Classification Analysis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3862916"/>
              <a:ext cx="9861103" cy="45851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604516" lvl="1" indent="-302258" algn="l">
                <a:lnSpc>
                  <a:spcPts val="3919"/>
                </a:lnSpc>
                <a:buFont typeface="Arial"/>
                <a:buChar char="•"/>
              </a:pPr>
              <a:r>
                <a:rPr lang="en-US" sz="2799" spc="-55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Precision, Recall, F1 ~ 0.99 for both classes</a:t>
              </a:r>
            </a:p>
            <a:p>
              <a:pPr algn="l">
                <a:lnSpc>
                  <a:spcPts val="3919"/>
                </a:lnSpc>
              </a:pPr>
              <a:endParaRPr lang="en-US" sz="2799" spc="-55">
                <a:solidFill>
                  <a:srgbClr val="C0C7D9"/>
                </a:solidFill>
                <a:latin typeface="Touvlo"/>
                <a:ea typeface="Touvlo"/>
                <a:cs typeface="Touvlo"/>
                <a:sym typeface="Touvlo"/>
              </a:endParaRPr>
            </a:p>
            <a:p>
              <a:pPr marL="604516" lvl="1" indent="-302258" algn="l">
                <a:lnSpc>
                  <a:spcPts val="3919"/>
                </a:lnSpc>
                <a:buFont typeface="Arial"/>
                <a:buChar char="•"/>
              </a:pPr>
              <a:r>
                <a:rPr lang="en-US" sz="2799" spc="-55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False Positives cut in half</a:t>
              </a:r>
            </a:p>
            <a:p>
              <a:pPr algn="l">
                <a:lnSpc>
                  <a:spcPts val="3919"/>
                </a:lnSpc>
              </a:pPr>
              <a:endParaRPr lang="en-US" sz="2799" spc="-55">
                <a:solidFill>
                  <a:srgbClr val="C0C7D9"/>
                </a:solidFill>
                <a:latin typeface="Touvlo"/>
                <a:ea typeface="Touvlo"/>
                <a:cs typeface="Touvlo"/>
                <a:sym typeface="Touvlo"/>
              </a:endParaRPr>
            </a:p>
            <a:p>
              <a:pPr marL="604516" lvl="1" indent="-302258" algn="l">
                <a:lnSpc>
                  <a:spcPts val="3919"/>
                </a:lnSpc>
                <a:buFont typeface="Arial"/>
                <a:buChar char="•"/>
              </a:pPr>
              <a:r>
                <a:rPr lang="en-US" sz="2799" spc="-55">
                  <a:solidFill>
                    <a:srgbClr val="C0C7D9"/>
                  </a:solidFill>
                  <a:latin typeface="Touvlo"/>
                  <a:ea typeface="Touvlo"/>
                  <a:cs typeface="Touvlo"/>
                  <a:sym typeface="Touvlo"/>
                </a:rPr>
                <a:t>ROC AUC = 0.9927 → Excellent performance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96400" y="666750"/>
            <a:ext cx="8324850" cy="7162800"/>
            <a:chOff x="0" y="0"/>
            <a:chExt cx="1287005" cy="11073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87005" cy="1107355"/>
            </a:xfrm>
            <a:custGeom>
              <a:avLst/>
              <a:gdLst/>
              <a:ahLst/>
              <a:cxnLst/>
              <a:rect l="l" t="t" r="r" b="b"/>
              <a:pathLst>
                <a:path w="1287005" h="1107355">
                  <a:moveTo>
                    <a:pt x="13950" y="0"/>
                  </a:moveTo>
                  <a:lnTo>
                    <a:pt x="1273056" y="0"/>
                  </a:lnTo>
                  <a:cubicBezTo>
                    <a:pt x="1276755" y="0"/>
                    <a:pt x="1280303" y="1470"/>
                    <a:pt x="1282919" y="4086"/>
                  </a:cubicBezTo>
                  <a:cubicBezTo>
                    <a:pt x="1285536" y="6702"/>
                    <a:pt x="1287005" y="10250"/>
                    <a:pt x="1287005" y="13950"/>
                  </a:cubicBezTo>
                  <a:lnTo>
                    <a:pt x="1287005" y="1093405"/>
                  </a:lnTo>
                  <a:cubicBezTo>
                    <a:pt x="1287005" y="1101109"/>
                    <a:pt x="1280760" y="1107355"/>
                    <a:pt x="1273056" y="1107355"/>
                  </a:cubicBezTo>
                  <a:lnTo>
                    <a:pt x="13950" y="1107355"/>
                  </a:lnTo>
                  <a:cubicBezTo>
                    <a:pt x="10250" y="1107355"/>
                    <a:pt x="6702" y="1105885"/>
                    <a:pt x="4086" y="1103269"/>
                  </a:cubicBezTo>
                  <a:cubicBezTo>
                    <a:pt x="1470" y="1100653"/>
                    <a:pt x="0" y="1097105"/>
                    <a:pt x="0" y="1093405"/>
                  </a:cubicBezTo>
                  <a:lnTo>
                    <a:pt x="0" y="13950"/>
                  </a:lnTo>
                  <a:cubicBezTo>
                    <a:pt x="0" y="6245"/>
                    <a:pt x="6245" y="0"/>
                    <a:pt x="13950" y="0"/>
                  </a:cubicBezTo>
                  <a:close/>
                </a:path>
              </a:pathLst>
            </a:custGeom>
            <a:blipFill>
              <a:blip r:embed="rId2"/>
              <a:stretch>
                <a:fillRect l="-243" r="-243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-5400000">
            <a:off x="-5014748" y="5014748"/>
            <a:ext cx="10287000" cy="257505"/>
            <a:chOff x="0" y="0"/>
            <a:chExt cx="2709333" cy="6782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709333" cy="67820"/>
            </a:xfrm>
            <a:custGeom>
              <a:avLst/>
              <a:gdLst/>
              <a:ahLst/>
              <a:cxnLst/>
              <a:rect l="l" t="t" r="r" b="b"/>
              <a:pathLst>
                <a:path w="2709333" h="67820">
                  <a:moveTo>
                    <a:pt x="0" y="0"/>
                  </a:moveTo>
                  <a:lnTo>
                    <a:pt x="2709333" y="0"/>
                  </a:lnTo>
                  <a:lnTo>
                    <a:pt x="2709333" y="67820"/>
                  </a:lnTo>
                  <a:lnTo>
                    <a:pt x="0" y="67820"/>
                  </a:lnTo>
                  <a:close/>
                </a:path>
              </a:pathLst>
            </a:custGeom>
            <a:solidFill>
              <a:srgbClr val="F0F3F9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2709333" cy="868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167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666750" y="838200"/>
            <a:ext cx="6886575" cy="1120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499"/>
              </a:lnSpc>
            </a:pPr>
            <a:r>
              <a:rPr lang="en-US" sz="8499" b="1">
                <a:solidFill>
                  <a:srgbClr val="F0F3F9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Conclusion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0" y="3016986"/>
            <a:ext cx="8950017" cy="4311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51" lvl="1" indent="-377825" algn="ctr">
              <a:lnSpc>
                <a:spcPts val="4900"/>
              </a:lnSpc>
              <a:buFont typeface="Arial"/>
              <a:buChar char="•"/>
            </a:pPr>
            <a:r>
              <a:rPr lang="en-US" sz="3500" b="1">
                <a:solidFill>
                  <a:srgbClr val="FFFFFF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LUCID++ improves detection accuracy &amp; reduces false alarms</a:t>
            </a:r>
          </a:p>
          <a:p>
            <a:pPr algn="ctr">
              <a:lnSpc>
                <a:spcPts val="4900"/>
              </a:lnSpc>
            </a:pPr>
            <a:endParaRPr lang="en-US" sz="3500" b="1">
              <a:solidFill>
                <a:srgbClr val="FFFFFF"/>
              </a:solidFill>
              <a:latin typeface="Proxima Nova Condensed Bold"/>
              <a:ea typeface="Proxima Nova Condensed Bold"/>
              <a:cs typeface="Proxima Nova Condensed Bold"/>
              <a:sym typeface="Proxima Nova Condensed Bold"/>
            </a:endParaRPr>
          </a:p>
          <a:p>
            <a:pPr marL="755651" lvl="1" indent="-377825" algn="ctr">
              <a:lnSpc>
                <a:spcPts val="4900"/>
              </a:lnSpc>
              <a:buFont typeface="Arial"/>
              <a:buChar char="•"/>
            </a:pPr>
            <a:r>
              <a:rPr lang="en-US" sz="3500" b="1">
                <a:solidFill>
                  <a:srgbClr val="FFFFFF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Architecture remains lightweight and fast</a:t>
            </a:r>
          </a:p>
          <a:p>
            <a:pPr algn="ctr">
              <a:lnSpc>
                <a:spcPts val="4900"/>
              </a:lnSpc>
            </a:pPr>
            <a:endParaRPr lang="en-US" sz="3500" b="1">
              <a:solidFill>
                <a:srgbClr val="FFFFFF"/>
              </a:solidFill>
              <a:latin typeface="Proxima Nova Condensed Bold"/>
              <a:ea typeface="Proxima Nova Condensed Bold"/>
              <a:cs typeface="Proxima Nova Condensed Bold"/>
              <a:sym typeface="Proxima Nova Condensed Bold"/>
            </a:endParaRPr>
          </a:p>
          <a:p>
            <a:pPr marL="755651" lvl="1" indent="-377825" algn="ctr">
              <a:lnSpc>
                <a:spcPts val="4900"/>
              </a:lnSpc>
              <a:buFont typeface="Arial"/>
              <a:buChar char="•"/>
            </a:pPr>
            <a:r>
              <a:rPr lang="en-US" sz="3500" b="1">
                <a:solidFill>
                  <a:srgbClr val="FFFFFF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Shows strong performance on modern traffic datasets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1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858125" y="0"/>
            <a:ext cx="10429875" cy="10287000"/>
            <a:chOff x="0" y="0"/>
            <a:chExt cx="1182292" cy="116609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82292" cy="1166096"/>
            </a:xfrm>
            <a:custGeom>
              <a:avLst/>
              <a:gdLst/>
              <a:ahLst/>
              <a:cxnLst/>
              <a:rect l="l" t="t" r="r" b="b"/>
              <a:pathLst>
                <a:path w="1182292" h="1166096">
                  <a:moveTo>
                    <a:pt x="0" y="0"/>
                  </a:moveTo>
                  <a:lnTo>
                    <a:pt x="1182292" y="0"/>
                  </a:lnTo>
                  <a:lnTo>
                    <a:pt x="1182292" y="1166096"/>
                  </a:lnTo>
                  <a:lnTo>
                    <a:pt x="0" y="1166096"/>
                  </a:lnTo>
                  <a:close/>
                </a:path>
              </a:pathLst>
            </a:custGeom>
            <a:blipFill>
              <a:blip r:embed="rId2"/>
              <a:stretch>
                <a:fillRect l="-193" r="-193"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804524" y="4668838"/>
            <a:ext cx="6886575" cy="1120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499"/>
              </a:lnSpc>
            </a:pPr>
            <a:r>
              <a:rPr lang="en-US" sz="8499" b="1">
                <a:solidFill>
                  <a:srgbClr val="F0F3F9"/>
                </a:solidFill>
                <a:latin typeface="Proxima Nova Condensed Bold"/>
                <a:ea typeface="Proxima Nova Condensed Bold"/>
                <a:cs typeface="Proxima Nova Condensed Bold"/>
                <a:sym typeface="Proxima Nova Condensed Bold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- LUCID++: Traffic Classification</dc:title>
  <dc:description>Presentation - LUCID++: Traffic Classification</dc:description>
  <cp:revision>7</cp:revision>
  <dcterms:created xsi:type="dcterms:W3CDTF">2006-08-16T00:00:00Z</dcterms:created>
  <dcterms:modified xsi:type="dcterms:W3CDTF">2025-11-24T20:25:40Z</dcterms:modified>
  <dc:identifier>DAG3cZ5A-r0</dc:identifier>
</cp:coreProperties>
</file>