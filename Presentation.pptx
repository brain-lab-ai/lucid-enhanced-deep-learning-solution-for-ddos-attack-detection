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roxima Nova Condensed Bold" charset="1" panose="02000506030000020004"/>
      <p:regular r:id="rId19"/>
    </p:embeddedFont>
    <p:embeddedFont>
      <p:font typeface="Touvlo" charset="1" panose="020B0604030403020204"/>
      <p:regular r:id="rId20"/>
    </p:embeddedFont>
    <p:embeddedFont>
      <p:font typeface="Touvlo Bold" charset="1" panose="020B0804030403020204"/>
      <p:regular r:id="rId21"/>
    </p:embeddedFont>
    <p:embeddedFont>
      <p:font typeface="Proxima Nova Condensed" charset="1" panose="0200050603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362950" y="361950"/>
            <a:ext cx="1562100" cy="18288000"/>
            <a:chOff x="0" y="0"/>
            <a:chExt cx="411417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417" cy="4816592"/>
            </a:xfrm>
            <a:custGeom>
              <a:avLst/>
              <a:gdLst/>
              <a:ahLst/>
              <a:cxnLst/>
              <a:rect r="r" b="b" t="t" l="l"/>
              <a:pathLst>
                <a:path h="481659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42875"/>
              <a:ext cx="411417" cy="4673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765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0"/>
            <a:ext cx="8991600" cy="8724900"/>
            <a:chOff x="0" y="0"/>
            <a:chExt cx="1035548" cy="10048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5548" cy="1004833"/>
            </a:xfrm>
            <a:custGeom>
              <a:avLst/>
              <a:gdLst/>
              <a:ahLst/>
              <a:cxnLst/>
              <a:rect r="r" b="b" t="t" l="l"/>
              <a:pathLst>
                <a:path h="1004833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004833"/>
                  </a:lnTo>
                  <a:lnTo>
                    <a:pt x="0" y="1004833"/>
                  </a:lnTo>
                  <a:close/>
                </a:path>
              </a:pathLst>
            </a:custGeom>
            <a:blipFill>
              <a:blip r:embed="rId2"/>
              <a:stretch>
                <a:fillRect l="-276" t="0" r="-2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75300" y="684848"/>
            <a:ext cx="8324850" cy="2801370"/>
            <a:chOff x="0" y="0"/>
            <a:chExt cx="11099800" cy="373516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9550"/>
              <a:ext cx="11099800" cy="1911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b="true" sz="10499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LUCID++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381340"/>
              <a:ext cx="11088400" cy="1353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7"/>
                </a:lnSpc>
              </a:pPr>
              <a:r>
                <a:rPr lang="en-US" sz="2962">
                  <a:solidFill>
                    <a:srgbClr val="F0F3F9"/>
                  </a:solidFill>
                  <a:latin typeface="Touvlo"/>
                  <a:ea typeface="Touvlo"/>
                  <a:cs typeface="Touvlo"/>
                  <a:sym typeface="Touvlo"/>
                </a:rPr>
                <a:t>En</a:t>
              </a:r>
              <a:r>
                <a:rPr lang="en-US" sz="2962">
                  <a:solidFill>
                    <a:srgbClr val="F0F3F9"/>
                  </a:solidFill>
                  <a:latin typeface="Touvlo"/>
                  <a:ea typeface="Touvlo"/>
                  <a:cs typeface="Touvlo"/>
                  <a:sym typeface="Touvlo"/>
                </a:rPr>
                <a:t>hanced Deep-Learning Solution for DDoS Attack Detection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9524" y="9230208"/>
            <a:ext cx="8584341" cy="38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2"/>
              </a:lnSpc>
            </a:pPr>
            <a:r>
              <a:rPr lang="en-US" sz="2962">
                <a:solidFill>
                  <a:srgbClr val="152A55"/>
                </a:solidFill>
                <a:latin typeface="Touvlo"/>
                <a:ea typeface="Touvlo"/>
                <a:cs typeface="Touvlo"/>
                <a:sym typeface="Touvlo"/>
              </a:rPr>
              <a:t>ICS-590 – Special Topics in Deep Learning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620750" y="9124400"/>
            <a:ext cx="4000500" cy="651679"/>
            <a:chOff x="0" y="0"/>
            <a:chExt cx="5334000" cy="86890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440661"/>
              <a:ext cx="5334000" cy="428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72"/>
                </a:lnSpc>
                <a:spcBef>
                  <a:spcPct val="0"/>
                </a:spcBef>
              </a:pPr>
              <a:r>
                <a:rPr lang="en-US" sz="1980">
                  <a:solidFill>
                    <a:srgbClr val="152A55"/>
                  </a:solidFill>
                  <a:latin typeface="Touvlo"/>
                  <a:ea typeface="Touvlo"/>
                  <a:cs typeface="Touvlo"/>
                  <a:sym typeface="Touvlo"/>
                </a:rPr>
                <a:t>Syed M Minhaj Naqvi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5334000" cy="557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b="true" sz="2567">
                  <a:solidFill>
                    <a:srgbClr val="152A55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PRESENTED BY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9120050"/>
            <a:ext cx="495645" cy="576750"/>
            <a:chOff x="0" y="0"/>
            <a:chExt cx="6985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A112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71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709333" cy="86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8477250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DDoS attacks a</a:t>
            </a:r>
            <a:r>
              <a:rPr lang="en-US" b="true" sz="849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 evolving and hard to detect in real-time.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0427" y="6237226"/>
            <a:ext cx="7913050" cy="2265680"/>
            <a:chOff x="0" y="0"/>
            <a:chExt cx="10550733" cy="302090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10550733" cy="2701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31508" indent="-315754" lvl="1">
                <a:lnSpc>
                  <a:spcPts val="4094"/>
                </a:lnSpc>
                <a:buFont typeface="Arial"/>
                <a:buChar char="•"/>
              </a:pPr>
              <a:r>
                <a:rPr lang="en-US" b="true" sz="2925">
                  <a:solidFill>
                    <a:srgbClr val="ACB9CC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HIGH</a:t>
              </a:r>
              <a:r>
                <a:rPr lang="en-US" b="true" sz="2925" strike="noStrike" u="none">
                  <a:solidFill>
                    <a:srgbClr val="ACB9CC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TRAFFIC </a:t>
              </a:r>
              <a:r>
                <a:rPr lang="en-US" b="true" sz="2925" strike="noStrike" u="none">
                  <a:solidFill>
                    <a:srgbClr val="ACB9CC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VOLUM</a:t>
              </a:r>
              <a:r>
                <a:rPr lang="en-US" b="true" sz="2925" strike="noStrike" u="none">
                  <a:solidFill>
                    <a:srgbClr val="ACB9CC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</a:t>
              </a:r>
            </a:p>
            <a:p>
              <a:pPr algn="l" marL="631508" indent="-315754" lvl="1">
                <a:lnSpc>
                  <a:spcPts val="4094"/>
                </a:lnSpc>
                <a:buFont typeface="Arial"/>
                <a:buChar char="•"/>
              </a:pPr>
              <a:r>
                <a:rPr lang="en-US" b="true" sz="2925" strike="noStrike" u="none">
                  <a:solidFill>
                    <a:srgbClr val="ACB9CC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COMPLEX ATTACK PATTERNS</a:t>
              </a:r>
            </a:p>
            <a:p>
              <a:pPr algn="l" marL="631508" indent="-315754" lvl="1">
                <a:lnSpc>
                  <a:spcPts val="4094"/>
                </a:lnSpc>
                <a:buFont typeface="Arial"/>
                <a:buChar char="•"/>
              </a:pPr>
              <a:r>
                <a:rPr lang="en-US" b="true" sz="2925" strike="noStrike" u="none">
                  <a:solidFill>
                    <a:srgbClr val="ACB9CC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NEED FOR FAST AND LIGHTWEIGHT DETECTION</a:t>
              </a:r>
            </a:p>
            <a:p>
              <a:pPr algn="l" marL="0" indent="0" lvl="0">
                <a:lnSpc>
                  <a:spcPts val="4094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763097"/>
              <a:ext cx="10550733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8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701" y="2197567"/>
            <a:ext cx="15000598" cy="5274949"/>
            <a:chOff x="0" y="0"/>
            <a:chExt cx="20000797" cy="703326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52400"/>
              <a:ext cx="20000797" cy="1929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</a:pPr>
              <a:r>
                <a:rPr lang="en-US" b="true" sz="8100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Exi</a:t>
              </a:r>
              <a:r>
                <a:rPr lang="en-US" b="true" sz="8100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sting Approaches</a:t>
              </a:r>
            </a:p>
            <a:p>
              <a:pPr algn="l" marL="0" indent="0" lvl="0">
                <a:lnSpc>
                  <a:spcPts val="3100"/>
                </a:lnSpc>
              </a:pPr>
              <a:r>
                <a:rPr lang="en-US" b="true" sz="3100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Traditional → ML → Deep Learning Evolution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448142"/>
              <a:ext cx="20000797" cy="4585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Statistical &amp; Threshold-based → fragile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ML: SVM, k-NN → heavy feature engineering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DL: RNNs/LSTMs, CNNs → learn features automatically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Challenge:</a:t>
              </a:r>
              <a:r>
                <a:rPr lang="en-US" sz="279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 Deep models are often too heavy for real-time use</a:t>
              </a:r>
            </a:p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8605" y="2039392"/>
            <a:ext cx="9968573" cy="5687738"/>
          </a:xfrm>
          <a:custGeom>
            <a:avLst/>
            <a:gdLst/>
            <a:ahLst/>
            <a:cxnLst/>
            <a:rect r="r" b="b" t="t" l="l"/>
            <a:pathLst>
              <a:path h="5687738" w="9968573">
                <a:moveTo>
                  <a:pt x="0" y="0"/>
                </a:moveTo>
                <a:lnTo>
                  <a:pt x="9968573" y="0"/>
                </a:lnTo>
                <a:lnTo>
                  <a:pt x="9968573" y="5687738"/>
                </a:lnTo>
                <a:lnTo>
                  <a:pt x="0" y="568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6933192" cy="8034021"/>
            <a:chOff x="0" y="0"/>
            <a:chExt cx="9244257" cy="1071202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2400"/>
              <a:ext cx="9244257" cy="5608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00"/>
                </a:lnSpc>
              </a:pPr>
              <a:r>
                <a:rPr lang="en-US" sz="8100" b="true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LUCID Ligh</a:t>
              </a:r>
              <a:r>
                <a:rPr lang="en-US" b="true" sz="8100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tweight CNN for DDoS detection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126904"/>
              <a:ext cx="9244257" cy="4585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1D CNN wi</a:t>
              </a:r>
              <a:r>
                <a:rPr lang="en-US" sz="279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th only ~2,241 parameters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Fast, 40x less overhead than 3LSTM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Previously tested on older datasets (e.g., CSECIC2018)</a:t>
              </a:r>
            </a:p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51768" y="3748318"/>
            <a:ext cx="14588965" cy="6400908"/>
          </a:xfrm>
          <a:custGeom>
            <a:avLst/>
            <a:gdLst/>
            <a:ahLst/>
            <a:cxnLst/>
            <a:rect r="r" b="b" t="t" l="l"/>
            <a:pathLst>
              <a:path h="6400908" w="14588965">
                <a:moveTo>
                  <a:pt x="0" y="0"/>
                </a:moveTo>
                <a:lnTo>
                  <a:pt x="14588964" y="0"/>
                </a:lnTo>
                <a:lnTo>
                  <a:pt x="14588964" y="6400908"/>
                </a:lnTo>
                <a:lnTo>
                  <a:pt x="0" y="6400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38200"/>
            <a:ext cx="6886575" cy="21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LUCID++ Enhancements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46250" y="1028700"/>
            <a:ext cx="7913050" cy="2457450"/>
            <a:chOff x="0" y="0"/>
            <a:chExt cx="10550733" cy="32766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055073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09507"/>
              <a:ext cx="10550733" cy="256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Bat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h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No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m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ali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z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ation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 → 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st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ab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liz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</a:t>
              </a:r>
              <a:r>
                <a:rPr lang="en-US" b="true" sz="2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 training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 strike="noStrike" u="none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Hidden Dense Layer → learns richer patterns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 strike="noStrike" u="none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Dropout → reduces overfitting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348858" cy="23166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8858" cy="2316681"/>
            </a:xfrm>
            <a:custGeom>
              <a:avLst/>
              <a:gdLst/>
              <a:ahLst/>
              <a:cxnLst/>
              <a:rect r="r" b="b" t="t" l="l"/>
              <a:pathLst>
                <a:path h="2316681" w="2348858">
                  <a:moveTo>
                    <a:pt x="0" y="0"/>
                  </a:moveTo>
                  <a:lnTo>
                    <a:pt x="2348858" y="0"/>
                  </a:lnTo>
                  <a:lnTo>
                    <a:pt x="2348858" y="2316681"/>
                  </a:lnTo>
                  <a:lnTo>
                    <a:pt x="0" y="2316681"/>
                  </a:lnTo>
                  <a:close/>
                </a:path>
              </a:pathLst>
            </a:custGeom>
            <a:blipFill>
              <a:blip r:embed="rId2"/>
              <a:stretch>
                <a:fillRect l="-193" t="0" r="-19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0209" y="559593"/>
            <a:ext cx="6220390" cy="7707158"/>
            <a:chOff x="0" y="0"/>
            <a:chExt cx="8293853" cy="1027621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61925"/>
              <a:ext cx="8293853" cy="3809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618"/>
                </a:lnSpc>
                <a:spcBef>
                  <a:spcPct val="0"/>
                </a:spcBef>
              </a:pPr>
              <a:r>
                <a:rPr lang="en-US" b="true" sz="8618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Dat</a:t>
              </a:r>
              <a:r>
                <a:rPr lang="en-US" b="true" sz="8618" strike="noStrike" u="none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</a:t>
              </a:r>
              <a:r>
                <a:rPr lang="en-US" b="true" sz="8618" strike="noStrike" u="none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set &amp;</a:t>
              </a:r>
              <a:r>
                <a:rPr lang="en-US" b="true" sz="8618" strike="noStrike" u="none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 </a:t>
              </a:r>
              <a:r>
                <a:rPr lang="en-US" b="true" sz="8618" strike="noStrike" u="none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</a:t>
              </a:r>
              <a:r>
                <a:rPr lang="en-US" b="true" sz="8618" strike="noStrike" u="none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</a:t>
              </a:r>
              <a:r>
                <a:rPr lang="en-US" b="true" sz="8618" strike="noStrike" u="none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proc</a:t>
              </a:r>
              <a:r>
                <a:rPr lang="en-US" b="true" sz="8618" strike="noStrike" u="none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essin</a:t>
              </a:r>
              <a:r>
                <a:rPr lang="en-US" b="true" sz="8618" strike="noStrike" u="none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g</a:t>
              </a:r>
            </a:p>
            <a:p>
              <a:pPr algn="l" marL="0" indent="0" lvl="0">
                <a:lnSpc>
                  <a:spcPts val="4894"/>
                </a:lnSpc>
                <a:spcBef>
                  <a:spcPct val="0"/>
                </a:spcBef>
              </a:pPr>
              <a:r>
                <a:rPr lang="en-US" b="true" sz="4894" strike="noStrike" u="none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Dataset: </a:t>
              </a:r>
              <a:r>
                <a:rPr lang="en-US" sz="4894" strike="noStrike" u="none">
                  <a:solidFill>
                    <a:srgbClr val="F0F3F9"/>
                  </a:solidFill>
                  <a:latin typeface="Proxima Nova Condensed"/>
                  <a:ea typeface="Proxima Nova Condensed"/>
                  <a:cs typeface="Proxima Nova Condensed"/>
                  <a:sym typeface="Proxima Nova Condensed"/>
                </a:rPr>
                <a:t>CIC-DDoS2019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698708"/>
              <a:ext cx="8293853" cy="5577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3198" indent="-321599" lvl="1">
                <a:lnSpc>
                  <a:spcPts val="4170"/>
                </a:lnSpc>
                <a:buFont typeface="Arial"/>
                <a:buChar char="•"/>
              </a:pPr>
              <a:r>
                <a:rPr lang="en-US" sz="297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10-second windows grouped by flow</a:t>
              </a:r>
            </a:p>
            <a:p>
              <a:pPr algn="l">
                <a:lnSpc>
                  <a:spcPts val="4170"/>
                </a:lnSpc>
              </a:pPr>
            </a:p>
            <a:p>
              <a:pPr algn="l" marL="643198" indent="-321599" lvl="1">
                <a:lnSpc>
                  <a:spcPts val="4170"/>
                </a:lnSpc>
                <a:buFont typeface="Arial"/>
                <a:buChar char="•"/>
              </a:pPr>
              <a:r>
                <a:rPr lang="en-US" sz="297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11 features per packet (no IPs/ports)</a:t>
              </a:r>
            </a:p>
            <a:p>
              <a:pPr algn="l">
                <a:lnSpc>
                  <a:spcPts val="4170"/>
                </a:lnSpc>
              </a:pPr>
            </a:p>
            <a:p>
              <a:pPr algn="l" marL="643198" indent="-321599" lvl="1">
                <a:lnSpc>
                  <a:spcPts val="417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7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Shape: (10, 11, 1) → suitable for CNN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917853" y="2464371"/>
            <a:ext cx="8995817" cy="3380311"/>
          </a:xfrm>
          <a:custGeom>
            <a:avLst/>
            <a:gdLst/>
            <a:ahLst/>
            <a:cxnLst/>
            <a:rect r="r" b="b" t="t" l="l"/>
            <a:pathLst>
              <a:path h="3380311" w="8995817">
                <a:moveTo>
                  <a:pt x="0" y="0"/>
                </a:moveTo>
                <a:lnTo>
                  <a:pt x="8995817" y="0"/>
                </a:lnTo>
                <a:lnTo>
                  <a:pt x="8995817" y="3380311"/>
                </a:lnTo>
                <a:lnTo>
                  <a:pt x="0" y="3380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38200"/>
            <a:ext cx="12639675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Evaluation Setup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8287" y="2847075"/>
            <a:ext cx="5448300" cy="3973830"/>
            <a:chOff x="0" y="0"/>
            <a:chExt cx="7264400" cy="529844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72644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48547"/>
              <a:ext cx="7264400" cy="4649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5-Fold C</a:t>
              </a:r>
              <a:r>
                <a:rPr lang="en-US" sz="2199" u="none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ross Validation with GridS</a:t>
              </a:r>
              <a:r>
                <a:rPr lang="en-US" sz="2199" u="none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earc</a:t>
              </a:r>
              <a:r>
                <a:rPr lang="en-US" sz="2199" u="none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hCV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 u="none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Tested 1920 hyperparameter combinations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 u="none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Evaluated on Accuracy, F1, TPR, FPR, ROC-AUC</a:t>
              </a:r>
            </a:p>
            <a:p>
              <a:pPr algn="l" marL="0" indent="0" lvl="0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709333" cy="86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327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Dataset Sources and Methodology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739775"/>
            <a:chOff x="0" y="0"/>
            <a:chExt cx="10550733" cy="9863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1055073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trike="noStrike" u="none">
                  <a:solidFill>
                    <a:srgbClr val="ACB9CC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TYPES OF TRAFFIC AND VOLUME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28557"/>
              <a:ext cx="10550733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680"/>
                </a:lnSpc>
                <a:spcBef>
                  <a:spcPct val="0"/>
                </a:spcBef>
              </a:pPr>
              <a:r>
                <a:rPr lang="en-US" sz="1200" strike="noStrike" u="none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We utilize extensive datasets </a:t>
              </a:r>
              <a:r>
                <a:rPr lang="en-US" b="true" sz="1200" strike="noStrike" u="none">
                  <a:solidFill>
                    <a:srgbClr val="C0C7D9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to ensure accuracy</a:t>
              </a:r>
              <a:r>
                <a:rPr lang="en-US" sz="1200" strike="noStrike" u="none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 and reliability.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17169" cy="10287000"/>
            <a:chOff x="0" y="0"/>
            <a:chExt cx="1795503" cy="27092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5503" cy="2709268"/>
            </a:xfrm>
            <a:custGeom>
              <a:avLst/>
              <a:gdLst/>
              <a:ahLst/>
              <a:cxnLst/>
              <a:rect r="r" b="b" t="t" l="l"/>
              <a:pathLst>
                <a:path h="2709268" w="1795503">
                  <a:moveTo>
                    <a:pt x="1795503" y="0"/>
                  </a:moveTo>
                  <a:lnTo>
                    <a:pt x="1795503" y="2709268"/>
                  </a:lnTo>
                  <a:lnTo>
                    <a:pt x="0" y="2709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2A5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95503" cy="2756893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l" marL="0" indent="0" lvl="0">
                <a:lnSpc>
                  <a:spcPts val="374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5753100" cy="3551492"/>
            <a:chOff x="0" y="0"/>
            <a:chExt cx="7670800" cy="473532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76708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b="true" sz="8499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Results Summary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533775"/>
              <a:ext cx="7670800" cy="1201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8"/>
                </a:lnSpc>
                <a:spcBef>
                  <a:spcPct val="0"/>
                </a:spcBef>
              </a:pPr>
              <a:r>
                <a:rPr lang="en-US" sz="2677" u="none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Key statistics for model performance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07263" y="1190133"/>
            <a:ext cx="6418310" cy="2278008"/>
            <a:chOff x="0" y="0"/>
            <a:chExt cx="1434434" cy="509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434" cy="509114"/>
            </a:xfrm>
            <a:custGeom>
              <a:avLst/>
              <a:gdLst/>
              <a:ahLst/>
              <a:cxnLst/>
              <a:rect r="r" b="b" t="t" l="l"/>
              <a:pathLst>
                <a:path h="509114" w="1434434">
                  <a:moveTo>
                    <a:pt x="18093" y="0"/>
                  </a:moveTo>
                  <a:lnTo>
                    <a:pt x="1416341" y="0"/>
                  </a:lnTo>
                  <a:cubicBezTo>
                    <a:pt x="1426333" y="0"/>
                    <a:pt x="1434434" y="8101"/>
                    <a:pt x="1434434" y="18093"/>
                  </a:cubicBezTo>
                  <a:lnTo>
                    <a:pt x="1434434" y="491021"/>
                  </a:lnTo>
                  <a:cubicBezTo>
                    <a:pt x="1434434" y="495819"/>
                    <a:pt x="1432528" y="500422"/>
                    <a:pt x="1429135" y="503815"/>
                  </a:cubicBezTo>
                  <a:cubicBezTo>
                    <a:pt x="1425741" y="507208"/>
                    <a:pt x="1421139" y="509114"/>
                    <a:pt x="1416341" y="509114"/>
                  </a:cubicBezTo>
                  <a:lnTo>
                    <a:pt x="18093" y="509114"/>
                  </a:lnTo>
                  <a:cubicBezTo>
                    <a:pt x="8101" y="509114"/>
                    <a:pt x="0" y="501014"/>
                    <a:pt x="0" y="491021"/>
                  </a:cubicBezTo>
                  <a:lnTo>
                    <a:pt x="0" y="18093"/>
                  </a:lnTo>
                  <a:cubicBezTo>
                    <a:pt x="0" y="13295"/>
                    <a:pt x="1906" y="8693"/>
                    <a:pt x="5299" y="5299"/>
                  </a:cubicBezTo>
                  <a:cubicBezTo>
                    <a:pt x="8693" y="1906"/>
                    <a:pt x="13295" y="0"/>
                    <a:pt x="18093" y="0"/>
                  </a:cubicBez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1434434" cy="642464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08104" y="1190133"/>
            <a:ext cx="3659354" cy="2278008"/>
            <a:chOff x="0" y="0"/>
            <a:chExt cx="817832" cy="5091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7832" cy="509114"/>
            </a:xfrm>
            <a:custGeom>
              <a:avLst/>
              <a:gdLst/>
              <a:ahLst/>
              <a:cxnLst/>
              <a:rect r="r" b="b" t="t" l="l"/>
              <a:pathLst>
                <a:path h="509114" w="817832">
                  <a:moveTo>
                    <a:pt x="31735" y="0"/>
                  </a:moveTo>
                  <a:lnTo>
                    <a:pt x="786098" y="0"/>
                  </a:lnTo>
                  <a:cubicBezTo>
                    <a:pt x="803624" y="0"/>
                    <a:pt x="817832" y="14208"/>
                    <a:pt x="817832" y="31735"/>
                  </a:cubicBezTo>
                  <a:lnTo>
                    <a:pt x="817832" y="477379"/>
                  </a:lnTo>
                  <a:cubicBezTo>
                    <a:pt x="817832" y="485796"/>
                    <a:pt x="814489" y="493868"/>
                    <a:pt x="808537" y="499819"/>
                  </a:cubicBezTo>
                  <a:cubicBezTo>
                    <a:pt x="802586" y="505771"/>
                    <a:pt x="794514" y="509114"/>
                    <a:pt x="786098" y="509114"/>
                  </a:cubicBezTo>
                  <a:lnTo>
                    <a:pt x="31735" y="509114"/>
                  </a:lnTo>
                  <a:cubicBezTo>
                    <a:pt x="23318" y="509114"/>
                    <a:pt x="15246" y="505771"/>
                    <a:pt x="9295" y="499819"/>
                  </a:cubicBezTo>
                  <a:cubicBezTo>
                    <a:pt x="3343" y="493868"/>
                    <a:pt x="0" y="485796"/>
                    <a:pt x="0" y="477379"/>
                  </a:cubicBezTo>
                  <a:lnTo>
                    <a:pt x="0" y="31735"/>
                  </a:lnTo>
                  <a:cubicBezTo>
                    <a:pt x="0" y="23318"/>
                    <a:pt x="3343" y="15246"/>
                    <a:pt x="9295" y="9295"/>
                  </a:cubicBezTo>
                  <a:cubicBezTo>
                    <a:pt x="15246" y="3343"/>
                    <a:pt x="23318" y="0"/>
                    <a:pt x="31735" y="0"/>
                  </a:cubicBezTo>
                  <a:close/>
                </a:path>
              </a:pathLst>
            </a:custGeom>
            <a:solidFill>
              <a:srgbClr val="152A5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33350"/>
              <a:ext cx="817832" cy="642464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372877" y="1943072"/>
            <a:ext cx="235378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</a:pPr>
            <a:r>
              <a:rPr lang="en-US" b="true" sz="3999">
                <a:solidFill>
                  <a:srgbClr val="152A55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ACCURACY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32200" y="1912274"/>
            <a:ext cx="3140677" cy="96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9"/>
              </a:lnSpc>
            </a:pPr>
            <a:r>
              <a:rPr lang="en-US" b="true" sz="720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98.93%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599757" y="1190133"/>
            <a:ext cx="3632443" cy="2278008"/>
            <a:chOff x="0" y="0"/>
            <a:chExt cx="1128058" cy="7074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8058" cy="707437"/>
            </a:xfrm>
            <a:custGeom>
              <a:avLst/>
              <a:gdLst/>
              <a:ahLst/>
              <a:cxnLst/>
              <a:rect r="r" b="b" t="t" l="l"/>
              <a:pathLst>
                <a:path h="707437" w="1128058">
                  <a:moveTo>
                    <a:pt x="36233" y="0"/>
                  </a:moveTo>
                  <a:lnTo>
                    <a:pt x="1091825" y="0"/>
                  </a:lnTo>
                  <a:cubicBezTo>
                    <a:pt x="1101435" y="0"/>
                    <a:pt x="1110651" y="3817"/>
                    <a:pt x="1117446" y="10612"/>
                  </a:cubicBezTo>
                  <a:cubicBezTo>
                    <a:pt x="1124240" y="17407"/>
                    <a:pt x="1128058" y="26623"/>
                    <a:pt x="1128058" y="36233"/>
                  </a:cubicBezTo>
                  <a:lnTo>
                    <a:pt x="1128058" y="671205"/>
                  </a:lnTo>
                  <a:cubicBezTo>
                    <a:pt x="1128058" y="691215"/>
                    <a:pt x="1111836" y="707437"/>
                    <a:pt x="1091825" y="707437"/>
                  </a:cubicBezTo>
                  <a:lnTo>
                    <a:pt x="36233" y="707437"/>
                  </a:lnTo>
                  <a:cubicBezTo>
                    <a:pt x="26623" y="707437"/>
                    <a:pt x="17407" y="703620"/>
                    <a:pt x="10612" y="696825"/>
                  </a:cubicBezTo>
                  <a:cubicBezTo>
                    <a:pt x="3817" y="690030"/>
                    <a:pt x="0" y="680814"/>
                    <a:pt x="0" y="671205"/>
                  </a:cubicBezTo>
                  <a:lnTo>
                    <a:pt x="0" y="36233"/>
                  </a:lnTo>
                  <a:cubicBezTo>
                    <a:pt x="0" y="26623"/>
                    <a:pt x="3817" y="17407"/>
                    <a:pt x="10612" y="10612"/>
                  </a:cubicBezTo>
                  <a:cubicBezTo>
                    <a:pt x="17407" y="3817"/>
                    <a:pt x="26623" y="0"/>
                    <a:pt x="36233" y="0"/>
                  </a:cubicBezTo>
                  <a:close/>
                </a:path>
              </a:pathLst>
            </a:custGeom>
            <a:solidFill>
              <a:srgbClr val="6B8CB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28058" cy="745537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>
                <a:lnSpc>
                  <a:spcPts val="294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349241" y="1905496"/>
            <a:ext cx="2347068" cy="96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8"/>
              </a:lnSpc>
              <a:spcBef>
                <a:spcPct val="0"/>
              </a:spcBef>
            </a:pPr>
            <a:r>
              <a:rPr lang="en-US" b="true" sz="7208">
                <a:solidFill>
                  <a:srgbClr val="00000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98.5%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507263" y="3468141"/>
            <a:ext cx="6418310" cy="2278008"/>
            <a:chOff x="0" y="0"/>
            <a:chExt cx="1434434" cy="5091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34434" cy="509114"/>
            </a:xfrm>
            <a:custGeom>
              <a:avLst/>
              <a:gdLst/>
              <a:ahLst/>
              <a:cxnLst/>
              <a:rect r="r" b="b" t="t" l="l"/>
              <a:pathLst>
                <a:path h="509114" w="1434434">
                  <a:moveTo>
                    <a:pt x="18093" y="0"/>
                  </a:moveTo>
                  <a:lnTo>
                    <a:pt x="1416341" y="0"/>
                  </a:lnTo>
                  <a:cubicBezTo>
                    <a:pt x="1426333" y="0"/>
                    <a:pt x="1434434" y="8101"/>
                    <a:pt x="1434434" y="18093"/>
                  </a:cubicBezTo>
                  <a:lnTo>
                    <a:pt x="1434434" y="491021"/>
                  </a:lnTo>
                  <a:cubicBezTo>
                    <a:pt x="1434434" y="495819"/>
                    <a:pt x="1432528" y="500422"/>
                    <a:pt x="1429135" y="503815"/>
                  </a:cubicBezTo>
                  <a:cubicBezTo>
                    <a:pt x="1425741" y="507208"/>
                    <a:pt x="1421139" y="509114"/>
                    <a:pt x="1416341" y="509114"/>
                  </a:cubicBezTo>
                  <a:lnTo>
                    <a:pt x="18093" y="509114"/>
                  </a:lnTo>
                  <a:cubicBezTo>
                    <a:pt x="8101" y="509114"/>
                    <a:pt x="0" y="501014"/>
                    <a:pt x="0" y="491021"/>
                  </a:cubicBezTo>
                  <a:lnTo>
                    <a:pt x="0" y="18093"/>
                  </a:lnTo>
                  <a:cubicBezTo>
                    <a:pt x="0" y="13295"/>
                    <a:pt x="1906" y="8693"/>
                    <a:pt x="5299" y="5299"/>
                  </a:cubicBezTo>
                  <a:cubicBezTo>
                    <a:pt x="8693" y="1906"/>
                    <a:pt x="13295" y="0"/>
                    <a:pt x="18093" y="0"/>
                  </a:cubicBez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33350"/>
              <a:ext cx="1434434" cy="642464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08104" y="3468141"/>
            <a:ext cx="3659354" cy="2278008"/>
            <a:chOff x="0" y="0"/>
            <a:chExt cx="817832" cy="5091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7832" cy="509114"/>
            </a:xfrm>
            <a:custGeom>
              <a:avLst/>
              <a:gdLst/>
              <a:ahLst/>
              <a:cxnLst/>
              <a:rect r="r" b="b" t="t" l="l"/>
              <a:pathLst>
                <a:path h="509114" w="817832">
                  <a:moveTo>
                    <a:pt x="31735" y="0"/>
                  </a:moveTo>
                  <a:lnTo>
                    <a:pt x="786098" y="0"/>
                  </a:lnTo>
                  <a:cubicBezTo>
                    <a:pt x="803624" y="0"/>
                    <a:pt x="817832" y="14208"/>
                    <a:pt x="817832" y="31735"/>
                  </a:cubicBezTo>
                  <a:lnTo>
                    <a:pt x="817832" y="477379"/>
                  </a:lnTo>
                  <a:cubicBezTo>
                    <a:pt x="817832" y="485796"/>
                    <a:pt x="814489" y="493868"/>
                    <a:pt x="808537" y="499819"/>
                  </a:cubicBezTo>
                  <a:cubicBezTo>
                    <a:pt x="802586" y="505771"/>
                    <a:pt x="794514" y="509114"/>
                    <a:pt x="786098" y="509114"/>
                  </a:cubicBezTo>
                  <a:lnTo>
                    <a:pt x="31735" y="509114"/>
                  </a:lnTo>
                  <a:cubicBezTo>
                    <a:pt x="23318" y="509114"/>
                    <a:pt x="15246" y="505771"/>
                    <a:pt x="9295" y="499819"/>
                  </a:cubicBezTo>
                  <a:cubicBezTo>
                    <a:pt x="3343" y="493868"/>
                    <a:pt x="0" y="485796"/>
                    <a:pt x="0" y="477379"/>
                  </a:cubicBezTo>
                  <a:lnTo>
                    <a:pt x="0" y="31735"/>
                  </a:lnTo>
                  <a:cubicBezTo>
                    <a:pt x="0" y="23318"/>
                    <a:pt x="3343" y="15246"/>
                    <a:pt x="9295" y="9295"/>
                  </a:cubicBezTo>
                  <a:cubicBezTo>
                    <a:pt x="15246" y="3343"/>
                    <a:pt x="23318" y="0"/>
                    <a:pt x="31735" y="0"/>
                  </a:cubicBezTo>
                  <a:close/>
                </a:path>
              </a:pathLst>
            </a:custGeom>
            <a:solidFill>
              <a:srgbClr val="152A5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33350"/>
              <a:ext cx="817832" cy="642464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457072" y="4142042"/>
            <a:ext cx="218539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</a:pPr>
            <a:r>
              <a:rPr lang="en-US" b="true" sz="3999">
                <a:solidFill>
                  <a:srgbClr val="152A55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F1-S</a:t>
            </a:r>
            <a:r>
              <a:rPr lang="en-US" b="true" sz="3999">
                <a:solidFill>
                  <a:srgbClr val="152A55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20134" y="4191729"/>
            <a:ext cx="3140677" cy="96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9"/>
              </a:lnSpc>
            </a:pPr>
            <a:r>
              <a:rPr lang="en-US" b="true" sz="720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0.</a:t>
            </a:r>
            <a:r>
              <a:rPr lang="en-US" b="true" sz="7209" strike="noStrike" u="none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9903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599757" y="3468141"/>
            <a:ext cx="3632443" cy="2278008"/>
            <a:chOff x="0" y="0"/>
            <a:chExt cx="1128058" cy="7074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8058" cy="707437"/>
            </a:xfrm>
            <a:custGeom>
              <a:avLst/>
              <a:gdLst/>
              <a:ahLst/>
              <a:cxnLst/>
              <a:rect r="r" b="b" t="t" l="l"/>
              <a:pathLst>
                <a:path h="707437" w="1128058">
                  <a:moveTo>
                    <a:pt x="36233" y="0"/>
                  </a:moveTo>
                  <a:lnTo>
                    <a:pt x="1091825" y="0"/>
                  </a:lnTo>
                  <a:cubicBezTo>
                    <a:pt x="1101435" y="0"/>
                    <a:pt x="1110651" y="3817"/>
                    <a:pt x="1117446" y="10612"/>
                  </a:cubicBezTo>
                  <a:cubicBezTo>
                    <a:pt x="1124240" y="17407"/>
                    <a:pt x="1128058" y="26623"/>
                    <a:pt x="1128058" y="36233"/>
                  </a:cubicBezTo>
                  <a:lnTo>
                    <a:pt x="1128058" y="671205"/>
                  </a:lnTo>
                  <a:cubicBezTo>
                    <a:pt x="1128058" y="691215"/>
                    <a:pt x="1111836" y="707437"/>
                    <a:pt x="1091825" y="707437"/>
                  </a:cubicBezTo>
                  <a:lnTo>
                    <a:pt x="36233" y="707437"/>
                  </a:lnTo>
                  <a:cubicBezTo>
                    <a:pt x="26623" y="707437"/>
                    <a:pt x="17407" y="703620"/>
                    <a:pt x="10612" y="696825"/>
                  </a:cubicBezTo>
                  <a:cubicBezTo>
                    <a:pt x="3817" y="690030"/>
                    <a:pt x="0" y="680814"/>
                    <a:pt x="0" y="671205"/>
                  </a:cubicBezTo>
                  <a:lnTo>
                    <a:pt x="0" y="36233"/>
                  </a:lnTo>
                  <a:cubicBezTo>
                    <a:pt x="0" y="26623"/>
                    <a:pt x="3817" y="17407"/>
                    <a:pt x="10612" y="10612"/>
                  </a:cubicBezTo>
                  <a:cubicBezTo>
                    <a:pt x="17407" y="3817"/>
                    <a:pt x="26623" y="0"/>
                    <a:pt x="36233" y="0"/>
                  </a:cubicBezTo>
                  <a:close/>
                </a:path>
              </a:pathLst>
            </a:custGeom>
            <a:solidFill>
              <a:srgbClr val="6B8CB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28058" cy="745537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>
                <a:lnSpc>
                  <a:spcPts val="2945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599757" y="4192535"/>
            <a:ext cx="3489612" cy="96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8"/>
              </a:lnSpc>
              <a:spcBef>
                <a:spcPct val="0"/>
              </a:spcBef>
            </a:pPr>
            <a:r>
              <a:rPr lang="en-US" b="true" sz="7208">
                <a:solidFill>
                  <a:srgbClr val="00000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0.</a:t>
            </a:r>
            <a:r>
              <a:rPr lang="en-US" b="true" sz="7208">
                <a:solidFill>
                  <a:srgbClr val="00000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9866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507263" y="5644129"/>
            <a:ext cx="6418310" cy="2278008"/>
            <a:chOff x="0" y="0"/>
            <a:chExt cx="1434434" cy="5091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34434" cy="509114"/>
            </a:xfrm>
            <a:custGeom>
              <a:avLst/>
              <a:gdLst/>
              <a:ahLst/>
              <a:cxnLst/>
              <a:rect r="r" b="b" t="t" l="l"/>
              <a:pathLst>
                <a:path h="509114" w="1434434">
                  <a:moveTo>
                    <a:pt x="18093" y="0"/>
                  </a:moveTo>
                  <a:lnTo>
                    <a:pt x="1416341" y="0"/>
                  </a:lnTo>
                  <a:cubicBezTo>
                    <a:pt x="1426333" y="0"/>
                    <a:pt x="1434434" y="8101"/>
                    <a:pt x="1434434" y="18093"/>
                  </a:cubicBezTo>
                  <a:lnTo>
                    <a:pt x="1434434" y="491021"/>
                  </a:lnTo>
                  <a:cubicBezTo>
                    <a:pt x="1434434" y="495819"/>
                    <a:pt x="1432528" y="500422"/>
                    <a:pt x="1429135" y="503815"/>
                  </a:cubicBezTo>
                  <a:cubicBezTo>
                    <a:pt x="1425741" y="507208"/>
                    <a:pt x="1421139" y="509114"/>
                    <a:pt x="1416341" y="509114"/>
                  </a:cubicBezTo>
                  <a:lnTo>
                    <a:pt x="18093" y="509114"/>
                  </a:lnTo>
                  <a:cubicBezTo>
                    <a:pt x="8101" y="509114"/>
                    <a:pt x="0" y="501014"/>
                    <a:pt x="0" y="491021"/>
                  </a:cubicBezTo>
                  <a:lnTo>
                    <a:pt x="0" y="18093"/>
                  </a:lnTo>
                  <a:cubicBezTo>
                    <a:pt x="0" y="13295"/>
                    <a:pt x="1906" y="8693"/>
                    <a:pt x="5299" y="5299"/>
                  </a:cubicBezTo>
                  <a:cubicBezTo>
                    <a:pt x="8693" y="1906"/>
                    <a:pt x="13295" y="0"/>
                    <a:pt x="18093" y="0"/>
                  </a:cubicBez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33350"/>
              <a:ext cx="1434434" cy="642464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08104" y="5644129"/>
            <a:ext cx="3659354" cy="2278008"/>
            <a:chOff x="0" y="0"/>
            <a:chExt cx="817832" cy="5091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7832" cy="509114"/>
            </a:xfrm>
            <a:custGeom>
              <a:avLst/>
              <a:gdLst/>
              <a:ahLst/>
              <a:cxnLst/>
              <a:rect r="r" b="b" t="t" l="l"/>
              <a:pathLst>
                <a:path h="509114" w="817832">
                  <a:moveTo>
                    <a:pt x="31735" y="0"/>
                  </a:moveTo>
                  <a:lnTo>
                    <a:pt x="786098" y="0"/>
                  </a:lnTo>
                  <a:cubicBezTo>
                    <a:pt x="803624" y="0"/>
                    <a:pt x="817832" y="14208"/>
                    <a:pt x="817832" y="31735"/>
                  </a:cubicBezTo>
                  <a:lnTo>
                    <a:pt x="817832" y="477379"/>
                  </a:lnTo>
                  <a:cubicBezTo>
                    <a:pt x="817832" y="485796"/>
                    <a:pt x="814489" y="493868"/>
                    <a:pt x="808537" y="499819"/>
                  </a:cubicBezTo>
                  <a:cubicBezTo>
                    <a:pt x="802586" y="505771"/>
                    <a:pt x="794514" y="509114"/>
                    <a:pt x="786098" y="509114"/>
                  </a:cubicBezTo>
                  <a:lnTo>
                    <a:pt x="31735" y="509114"/>
                  </a:lnTo>
                  <a:cubicBezTo>
                    <a:pt x="23318" y="509114"/>
                    <a:pt x="15246" y="505771"/>
                    <a:pt x="9295" y="499819"/>
                  </a:cubicBezTo>
                  <a:cubicBezTo>
                    <a:pt x="3343" y="493868"/>
                    <a:pt x="0" y="485796"/>
                    <a:pt x="0" y="477379"/>
                  </a:cubicBezTo>
                  <a:lnTo>
                    <a:pt x="0" y="31735"/>
                  </a:lnTo>
                  <a:cubicBezTo>
                    <a:pt x="0" y="23318"/>
                    <a:pt x="3343" y="15246"/>
                    <a:pt x="9295" y="9295"/>
                  </a:cubicBezTo>
                  <a:cubicBezTo>
                    <a:pt x="15246" y="3343"/>
                    <a:pt x="23318" y="0"/>
                    <a:pt x="31735" y="0"/>
                  </a:cubicBezTo>
                  <a:close/>
                </a:path>
              </a:pathLst>
            </a:custGeom>
            <a:solidFill>
              <a:srgbClr val="152A5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33350"/>
              <a:ext cx="817832" cy="642464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372877" y="6381232"/>
            <a:ext cx="218539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</a:pPr>
            <a:r>
              <a:rPr lang="en-US" b="true" sz="3999">
                <a:solidFill>
                  <a:srgbClr val="152A55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TPR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89369" y="6343640"/>
            <a:ext cx="3140677" cy="96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9"/>
              </a:lnSpc>
            </a:pPr>
            <a:r>
              <a:rPr lang="en-US" b="true" sz="7209" strike="noStrike" u="none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99.22%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599757" y="5644129"/>
            <a:ext cx="3632443" cy="2278008"/>
            <a:chOff x="0" y="0"/>
            <a:chExt cx="1128058" cy="7074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8058" cy="707437"/>
            </a:xfrm>
            <a:custGeom>
              <a:avLst/>
              <a:gdLst/>
              <a:ahLst/>
              <a:cxnLst/>
              <a:rect r="r" b="b" t="t" l="l"/>
              <a:pathLst>
                <a:path h="707437" w="1128058">
                  <a:moveTo>
                    <a:pt x="36233" y="0"/>
                  </a:moveTo>
                  <a:lnTo>
                    <a:pt x="1091825" y="0"/>
                  </a:lnTo>
                  <a:cubicBezTo>
                    <a:pt x="1101435" y="0"/>
                    <a:pt x="1110651" y="3817"/>
                    <a:pt x="1117446" y="10612"/>
                  </a:cubicBezTo>
                  <a:cubicBezTo>
                    <a:pt x="1124240" y="17407"/>
                    <a:pt x="1128058" y="26623"/>
                    <a:pt x="1128058" y="36233"/>
                  </a:cubicBezTo>
                  <a:lnTo>
                    <a:pt x="1128058" y="671205"/>
                  </a:lnTo>
                  <a:cubicBezTo>
                    <a:pt x="1128058" y="691215"/>
                    <a:pt x="1111836" y="707437"/>
                    <a:pt x="1091825" y="707437"/>
                  </a:cubicBezTo>
                  <a:lnTo>
                    <a:pt x="36233" y="707437"/>
                  </a:lnTo>
                  <a:cubicBezTo>
                    <a:pt x="26623" y="707437"/>
                    <a:pt x="17407" y="703620"/>
                    <a:pt x="10612" y="696825"/>
                  </a:cubicBezTo>
                  <a:cubicBezTo>
                    <a:pt x="3817" y="690030"/>
                    <a:pt x="0" y="680814"/>
                    <a:pt x="0" y="671205"/>
                  </a:cubicBezTo>
                  <a:lnTo>
                    <a:pt x="0" y="36233"/>
                  </a:lnTo>
                  <a:cubicBezTo>
                    <a:pt x="0" y="26623"/>
                    <a:pt x="3817" y="17407"/>
                    <a:pt x="10612" y="10612"/>
                  </a:cubicBezTo>
                  <a:cubicBezTo>
                    <a:pt x="17407" y="3817"/>
                    <a:pt x="26623" y="0"/>
                    <a:pt x="36233" y="0"/>
                  </a:cubicBezTo>
                  <a:close/>
                </a:path>
              </a:pathLst>
            </a:custGeom>
            <a:solidFill>
              <a:srgbClr val="6B8CBE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128058" cy="745537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>
                <a:lnSpc>
                  <a:spcPts val="2945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599757" y="6368523"/>
            <a:ext cx="3632443" cy="278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8"/>
              </a:lnSpc>
              <a:spcBef>
                <a:spcPct val="0"/>
              </a:spcBef>
            </a:pPr>
            <a:r>
              <a:rPr lang="en-US" b="true" sz="7208">
                <a:solidFill>
                  <a:srgbClr val="00000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99.61%</a:t>
            </a:r>
          </a:p>
          <a:p>
            <a:pPr algn="ctr">
              <a:lnSpc>
                <a:spcPts val="7208"/>
              </a:lnSpc>
              <a:spcBef>
                <a:spcPct val="0"/>
              </a:spcBef>
            </a:pPr>
          </a:p>
          <a:p>
            <a:pPr algn="ctr">
              <a:lnSpc>
                <a:spcPts val="7208"/>
              </a:lnSpc>
              <a:spcBef>
                <a:spcPct val="0"/>
              </a:spcBef>
            </a:pPr>
          </a:p>
        </p:txBody>
      </p:sp>
      <p:grpSp>
        <p:nvGrpSpPr>
          <p:cNvPr name="Group 44" id="44"/>
          <p:cNvGrpSpPr/>
          <p:nvPr/>
        </p:nvGrpSpPr>
        <p:grpSpPr>
          <a:xfrm rot="0">
            <a:off x="10507263" y="7771964"/>
            <a:ext cx="6418310" cy="2278008"/>
            <a:chOff x="0" y="0"/>
            <a:chExt cx="1434434" cy="50911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34434" cy="509114"/>
            </a:xfrm>
            <a:custGeom>
              <a:avLst/>
              <a:gdLst/>
              <a:ahLst/>
              <a:cxnLst/>
              <a:rect r="r" b="b" t="t" l="l"/>
              <a:pathLst>
                <a:path h="509114" w="1434434">
                  <a:moveTo>
                    <a:pt x="18093" y="0"/>
                  </a:moveTo>
                  <a:lnTo>
                    <a:pt x="1416341" y="0"/>
                  </a:lnTo>
                  <a:cubicBezTo>
                    <a:pt x="1426333" y="0"/>
                    <a:pt x="1434434" y="8101"/>
                    <a:pt x="1434434" y="18093"/>
                  </a:cubicBezTo>
                  <a:lnTo>
                    <a:pt x="1434434" y="491021"/>
                  </a:lnTo>
                  <a:cubicBezTo>
                    <a:pt x="1434434" y="495819"/>
                    <a:pt x="1432528" y="500422"/>
                    <a:pt x="1429135" y="503815"/>
                  </a:cubicBezTo>
                  <a:cubicBezTo>
                    <a:pt x="1425741" y="507208"/>
                    <a:pt x="1421139" y="509114"/>
                    <a:pt x="1416341" y="509114"/>
                  </a:cubicBezTo>
                  <a:lnTo>
                    <a:pt x="18093" y="509114"/>
                  </a:lnTo>
                  <a:cubicBezTo>
                    <a:pt x="8101" y="509114"/>
                    <a:pt x="0" y="501014"/>
                    <a:pt x="0" y="491021"/>
                  </a:cubicBezTo>
                  <a:lnTo>
                    <a:pt x="0" y="18093"/>
                  </a:lnTo>
                  <a:cubicBezTo>
                    <a:pt x="0" y="13295"/>
                    <a:pt x="1906" y="8693"/>
                    <a:pt x="5299" y="5299"/>
                  </a:cubicBezTo>
                  <a:cubicBezTo>
                    <a:pt x="8693" y="1906"/>
                    <a:pt x="13295" y="0"/>
                    <a:pt x="18093" y="0"/>
                  </a:cubicBez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33350"/>
              <a:ext cx="1434434" cy="642464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508104" y="7771964"/>
            <a:ext cx="3659354" cy="2278008"/>
            <a:chOff x="0" y="0"/>
            <a:chExt cx="817832" cy="50911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7832" cy="509114"/>
            </a:xfrm>
            <a:custGeom>
              <a:avLst/>
              <a:gdLst/>
              <a:ahLst/>
              <a:cxnLst/>
              <a:rect r="r" b="b" t="t" l="l"/>
              <a:pathLst>
                <a:path h="509114" w="817832">
                  <a:moveTo>
                    <a:pt x="31735" y="0"/>
                  </a:moveTo>
                  <a:lnTo>
                    <a:pt x="786098" y="0"/>
                  </a:lnTo>
                  <a:cubicBezTo>
                    <a:pt x="803624" y="0"/>
                    <a:pt x="817832" y="14208"/>
                    <a:pt x="817832" y="31735"/>
                  </a:cubicBezTo>
                  <a:lnTo>
                    <a:pt x="817832" y="477379"/>
                  </a:lnTo>
                  <a:cubicBezTo>
                    <a:pt x="817832" y="485796"/>
                    <a:pt x="814489" y="493868"/>
                    <a:pt x="808537" y="499819"/>
                  </a:cubicBezTo>
                  <a:cubicBezTo>
                    <a:pt x="802586" y="505771"/>
                    <a:pt x="794514" y="509114"/>
                    <a:pt x="786098" y="509114"/>
                  </a:cubicBezTo>
                  <a:lnTo>
                    <a:pt x="31735" y="509114"/>
                  </a:lnTo>
                  <a:cubicBezTo>
                    <a:pt x="23318" y="509114"/>
                    <a:pt x="15246" y="505771"/>
                    <a:pt x="9295" y="499819"/>
                  </a:cubicBezTo>
                  <a:cubicBezTo>
                    <a:pt x="3343" y="493868"/>
                    <a:pt x="0" y="485796"/>
                    <a:pt x="0" y="477379"/>
                  </a:cubicBezTo>
                  <a:lnTo>
                    <a:pt x="0" y="31735"/>
                  </a:lnTo>
                  <a:cubicBezTo>
                    <a:pt x="0" y="23318"/>
                    <a:pt x="3343" y="15246"/>
                    <a:pt x="9295" y="9295"/>
                  </a:cubicBezTo>
                  <a:cubicBezTo>
                    <a:pt x="15246" y="3343"/>
                    <a:pt x="23318" y="0"/>
                    <a:pt x="31735" y="0"/>
                  </a:cubicBezTo>
                  <a:close/>
                </a:path>
              </a:pathLst>
            </a:custGeom>
            <a:solidFill>
              <a:srgbClr val="152A55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33350"/>
              <a:ext cx="817832" cy="642464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 marL="0" indent="0" lvl="0">
                <a:lnSpc>
                  <a:spcPts val="9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4457072" y="8477281"/>
            <a:ext cx="218539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</a:pPr>
            <a:r>
              <a:rPr lang="en-US" b="true" sz="3999">
                <a:solidFill>
                  <a:srgbClr val="152A55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FPR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089369" y="8494105"/>
            <a:ext cx="3140677" cy="96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9"/>
              </a:lnSpc>
            </a:pPr>
            <a:r>
              <a:rPr lang="en-US" b="true" sz="720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1.43</a:t>
            </a:r>
            <a:r>
              <a:rPr lang="en-US" b="true" sz="7209" strike="noStrike" u="none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%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7599757" y="7771964"/>
            <a:ext cx="3632443" cy="2278008"/>
            <a:chOff x="0" y="0"/>
            <a:chExt cx="1128058" cy="70743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28058" cy="707437"/>
            </a:xfrm>
            <a:custGeom>
              <a:avLst/>
              <a:gdLst/>
              <a:ahLst/>
              <a:cxnLst/>
              <a:rect r="r" b="b" t="t" l="l"/>
              <a:pathLst>
                <a:path h="707437" w="1128058">
                  <a:moveTo>
                    <a:pt x="36233" y="0"/>
                  </a:moveTo>
                  <a:lnTo>
                    <a:pt x="1091825" y="0"/>
                  </a:lnTo>
                  <a:cubicBezTo>
                    <a:pt x="1101435" y="0"/>
                    <a:pt x="1110651" y="3817"/>
                    <a:pt x="1117446" y="10612"/>
                  </a:cubicBezTo>
                  <a:cubicBezTo>
                    <a:pt x="1124240" y="17407"/>
                    <a:pt x="1128058" y="26623"/>
                    <a:pt x="1128058" y="36233"/>
                  </a:cubicBezTo>
                  <a:lnTo>
                    <a:pt x="1128058" y="671205"/>
                  </a:lnTo>
                  <a:cubicBezTo>
                    <a:pt x="1128058" y="691215"/>
                    <a:pt x="1111836" y="707437"/>
                    <a:pt x="1091825" y="707437"/>
                  </a:cubicBezTo>
                  <a:lnTo>
                    <a:pt x="36233" y="707437"/>
                  </a:lnTo>
                  <a:cubicBezTo>
                    <a:pt x="26623" y="707437"/>
                    <a:pt x="17407" y="703620"/>
                    <a:pt x="10612" y="696825"/>
                  </a:cubicBezTo>
                  <a:cubicBezTo>
                    <a:pt x="3817" y="690030"/>
                    <a:pt x="0" y="680814"/>
                    <a:pt x="0" y="671205"/>
                  </a:cubicBezTo>
                  <a:lnTo>
                    <a:pt x="0" y="36233"/>
                  </a:lnTo>
                  <a:cubicBezTo>
                    <a:pt x="0" y="26623"/>
                    <a:pt x="3817" y="17407"/>
                    <a:pt x="10612" y="10612"/>
                  </a:cubicBezTo>
                  <a:cubicBezTo>
                    <a:pt x="17407" y="3817"/>
                    <a:pt x="26623" y="0"/>
                    <a:pt x="36233" y="0"/>
                  </a:cubicBezTo>
                  <a:close/>
                </a:path>
              </a:pathLst>
            </a:custGeom>
            <a:solidFill>
              <a:srgbClr val="6B8CBE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128058" cy="745537"/>
            </a:xfrm>
            <a:prstGeom prst="rect">
              <a:avLst/>
            </a:prstGeom>
          </p:spPr>
          <p:txBody>
            <a:bodyPr anchor="ctr" rtlCol="false" tIns="43083" lIns="43083" bIns="43083" rIns="43083"/>
            <a:lstStyle/>
            <a:p>
              <a:pPr algn="ctr">
                <a:lnSpc>
                  <a:spcPts val="2945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7599757" y="8496358"/>
            <a:ext cx="3489612" cy="96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8"/>
              </a:lnSpc>
              <a:spcBef>
                <a:spcPct val="0"/>
              </a:spcBef>
            </a:pPr>
            <a:r>
              <a:rPr lang="en-US" b="true" sz="7208">
                <a:solidFill>
                  <a:srgbClr val="00000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2.86</a:t>
            </a:r>
            <a:r>
              <a:rPr lang="en-US" b="true" sz="7208">
                <a:solidFill>
                  <a:srgbClr val="00000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%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7599757" y="95769"/>
            <a:ext cx="6561054" cy="1141963"/>
            <a:chOff x="0" y="0"/>
            <a:chExt cx="1728014" cy="3007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28014" cy="300764"/>
            </a:xfrm>
            <a:custGeom>
              <a:avLst/>
              <a:gdLst/>
              <a:ahLst/>
              <a:cxnLst/>
              <a:rect r="r" b="b" t="t" l="l"/>
              <a:pathLst>
                <a:path h="300764" w="1728014">
                  <a:moveTo>
                    <a:pt x="20060" y="0"/>
                  </a:moveTo>
                  <a:lnTo>
                    <a:pt x="1707955" y="0"/>
                  </a:lnTo>
                  <a:cubicBezTo>
                    <a:pt x="1719033" y="0"/>
                    <a:pt x="1728014" y="8981"/>
                    <a:pt x="1728014" y="20060"/>
                  </a:cubicBezTo>
                  <a:lnTo>
                    <a:pt x="1728014" y="280704"/>
                  </a:lnTo>
                  <a:cubicBezTo>
                    <a:pt x="1728014" y="291783"/>
                    <a:pt x="1719033" y="300764"/>
                    <a:pt x="1707955" y="300764"/>
                  </a:cubicBezTo>
                  <a:lnTo>
                    <a:pt x="20060" y="300764"/>
                  </a:lnTo>
                  <a:cubicBezTo>
                    <a:pt x="14740" y="300764"/>
                    <a:pt x="9637" y="298650"/>
                    <a:pt x="5875" y="294888"/>
                  </a:cubicBezTo>
                  <a:cubicBezTo>
                    <a:pt x="2113" y="291127"/>
                    <a:pt x="0" y="286024"/>
                    <a:pt x="0" y="280704"/>
                  </a:cubicBezTo>
                  <a:lnTo>
                    <a:pt x="0" y="20060"/>
                  </a:lnTo>
                  <a:cubicBezTo>
                    <a:pt x="0" y="8981"/>
                    <a:pt x="8981" y="0"/>
                    <a:pt x="20060" y="0"/>
                  </a:cubicBezTo>
                  <a:close/>
                </a:path>
              </a:pathLst>
            </a:custGeom>
            <a:solidFill>
              <a:srgbClr val="5E6785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728014" cy="329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7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8533216" y="669925"/>
            <a:ext cx="989558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LUCID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781185" y="669925"/>
            <a:ext cx="1350318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LUCID++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30599" y="825643"/>
            <a:ext cx="12337014" cy="5084219"/>
          </a:xfrm>
          <a:custGeom>
            <a:avLst/>
            <a:gdLst/>
            <a:ahLst/>
            <a:cxnLst/>
            <a:rect r="r" b="b" t="t" l="l"/>
            <a:pathLst>
              <a:path h="5084219" w="12337014">
                <a:moveTo>
                  <a:pt x="0" y="0"/>
                </a:moveTo>
                <a:lnTo>
                  <a:pt x="12337014" y="0"/>
                </a:lnTo>
                <a:lnTo>
                  <a:pt x="12337014" y="5084219"/>
                </a:lnTo>
                <a:lnTo>
                  <a:pt x="0" y="5084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38200"/>
            <a:ext cx="6886575" cy="21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</a:t>
            </a:r>
            <a:r>
              <a:rPr lang="en-US" b="true" sz="849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raining Dynamics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8599" y="6538003"/>
            <a:ext cx="9144000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5647" indent="-377824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St</a:t>
            </a:r>
            <a:r>
              <a:rPr lang="en-US" b="true" sz="34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able accuracy &amp; loss curves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  <a:p>
            <a:pPr algn="ctr" marL="755647" indent="-377824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No overfitting → thanks to BatchNorm + Dropout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1214437" y="1214437"/>
            <a:ext cx="10287000" cy="7858125"/>
            <a:chOff x="0" y="0"/>
            <a:chExt cx="2709333" cy="2069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2069630"/>
            </a:xfrm>
            <a:custGeom>
              <a:avLst/>
              <a:gdLst/>
              <a:ahLst/>
              <a:cxnLst/>
              <a:rect r="r" b="b" t="t" l="l"/>
              <a:pathLst>
                <a:path h="206963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069630"/>
                  </a:lnTo>
                  <a:lnTo>
                    <a:pt x="0" y="2069630"/>
                  </a:lnTo>
                  <a:close/>
                </a:path>
              </a:pathLst>
            </a:custGeom>
            <a:solidFill>
              <a:srgbClr val="152A5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09333" cy="2126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258973" y="1863175"/>
            <a:ext cx="7515987" cy="5856474"/>
          </a:xfrm>
          <a:custGeom>
            <a:avLst/>
            <a:gdLst/>
            <a:ahLst/>
            <a:cxnLst/>
            <a:rect r="r" b="b" t="t" l="l"/>
            <a:pathLst>
              <a:path h="5856474" w="7515987">
                <a:moveTo>
                  <a:pt x="0" y="0"/>
                </a:moveTo>
                <a:lnTo>
                  <a:pt x="7515987" y="0"/>
                </a:lnTo>
                <a:lnTo>
                  <a:pt x="7515987" y="5856474"/>
                </a:lnTo>
                <a:lnTo>
                  <a:pt x="0" y="585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62298" y="1227706"/>
            <a:ext cx="7395827" cy="6336030"/>
            <a:chOff x="0" y="0"/>
            <a:chExt cx="9861103" cy="844804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71450"/>
              <a:ext cx="9861103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b="true" sz="8499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Cl</a:t>
              </a:r>
              <a:r>
                <a:rPr lang="en-US" b="true" sz="8499">
                  <a:solidFill>
                    <a:srgbClr val="F0F3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assification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862916"/>
              <a:ext cx="9861103" cy="4585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 spc="-55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Precision, Recall, F1 ~ 0.99 for both classes</a:t>
              </a:r>
            </a:p>
            <a:p>
              <a:pPr algn="l">
                <a:lnSpc>
                  <a:spcPts val="3919"/>
                </a:lnSpc>
              </a:pPr>
            </a:p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 spc="-55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False Positives cut in half</a:t>
              </a:r>
            </a:p>
            <a:p>
              <a:pPr algn="l">
                <a:lnSpc>
                  <a:spcPts val="3919"/>
                </a:lnSpc>
              </a:pPr>
            </a:p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 spc="-55">
                  <a:solidFill>
                    <a:srgbClr val="C0C7D9"/>
                  </a:solidFill>
                  <a:latin typeface="Touvlo"/>
                  <a:ea typeface="Touvlo"/>
                  <a:cs typeface="Touvlo"/>
                  <a:sym typeface="Touvlo"/>
                </a:rPr>
                <a:t>ROC AUC = 0.9927 → Excellent performance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F0F3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709333" cy="86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</a:t>
            </a:r>
            <a:r>
              <a:rPr lang="en-US" b="true" sz="849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3016986"/>
            <a:ext cx="8950017" cy="431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LUCID++ improves detection accuracy &amp; reduces false alarms</a:t>
            </a:r>
          </a:p>
          <a:p>
            <a:pPr algn="ctr">
              <a:lnSpc>
                <a:spcPts val="4900"/>
              </a:lnSpc>
            </a:pPr>
          </a:p>
          <a:p>
            <a:pPr algn="ctr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Architecture remains lightweight and fast</a:t>
            </a:r>
          </a:p>
          <a:p>
            <a:pPr algn="ctr">
              <a:lnSpc>
                <a:spcPts val="4900"/>
              </a:lnSpc>
            </a:pPr>
          </a:p>
          <a:p>
            <a:pPr algn="ctr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Shows strong performance on modern traffic datasets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182292" cy="1166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2292" cy="1166096"/>
            </a:xfrm>
            <a:custGeom>
              <a:avLst/>
              <a:gdLst/>
              <a:ahLst/>
              <a:cxnLst/>
              <a:rect r="r" b="b" t="t" l="l"/>
              <a:pathLst>
                <a:path h="1166096" w="1182292">
                  <a:moveTo>
                    <a:pt x="0" y="0"/>
                  </a:moveTo>
                  <a:lnTo>
                    <a:pt x="1182292" y="0"/>
                  </a:lnTo>
                  <a:lnTo>
                    <a:pt x="1182292" y="1166096"/>
                  </a:lnTo>
                  <a:lnTo>
                    <a:pt x="0" y="1166096"/>
                  </a:lnTo>
                  <a:close/>
                </a:path>
              </a:pathLst>
            </a:custGeom>
            <a:blipFill>
              <a:blip r:embed="rId2"/>
              <a:stretch>
                <a:fillRect l="-193" t="0" r="-19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4524" y="4668838"/>
            <a:ext cx="6886575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F0F3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LUCID++: Traffic Classification</dc:description>
  <dc:identifier>DAG3cZ5A-r0</dc:identifier>
  <dcterms:modified xsi:type="dcterms:W3CDTF">2011-08-01T06:04:30Z</dcterms:modified>
  <cp:revision>1</cp:revision>
  <dc:title>Presentation - LUCID++: Traffic Classification</dc:title>
</cp:coreProperties>
</file>